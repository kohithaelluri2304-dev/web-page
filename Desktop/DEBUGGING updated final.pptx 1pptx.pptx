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4" r:id="rId6"/>
    <p:sldId id="265" r:id="rId7"/>
    <p:sldId id="260" r:id="rId8"/>
    <p:sldId id="261" r:id="rId9"/>
    <p:sldId id="263"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9/2/2026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9/2/2026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9/2/2026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EEAE-EA65-4296-BD61-2CC37AD764B5}"/>
              </a:ext>
            </a:extLst>
          </p:cNvPr>
          <p:cNvSpPr>
            <a:spLocks noGrp="1"/>
          </p:cNvSpPr>
          <p:nvPr>
            <p:ph type="ctrTitle"/>
          </p:nvPr>
        </p:nvSpPr>
        <p:spPr/>
        <p:txBody>
          <a:bodyPr/>
          <a:lstStyle/>
          <a:p>
            <a:r>
              <a:rPr lang="en-US" sz="9600" b="1" i="1" dirty="0">
                <a:latin typeface="Times New Roman" panose="02020603050405020304" pitchFamily="18" charset="0"/>
                <a:cs typeface="Times New Roman" panose="02020603050405020304" pitchFamily="18" charset="0"/>
              </a:rPr>
              <a:t>DEBUGGING</a:t>
            </a:r>
            <a:endParaRPr lang="en-IN" sz="9600" b="1" i="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6CFED4C-8A3F-4DAB-BCA7-44483CA61264}"/>
              </a:ext>
            </a:extLst>
          </p:cNvPr>
          <p:cNvSpPr>
            <a:spLocks noGrp="1"/>
          </p:cNvSpPr>
          <p:nvPr>
            <p:ph type="subTitle" idx="1"/>
          </p:nvPr>
        </p:nvSpPr>
        <p:spPr>
          <a:xfrm>
            <a:off x="2679906" y="3956279"/>
            <a:ext cx="6831673" cy="1745274"/>
          </a:xfrm>
        </p:spPr>
        <p:txBody>
          <a:bodyPr>
            <a:noAutofit/>
          </a:bodyPr>
          <a:lstStyle/>
          <a:p>
            <a:r>
              <a:rPr lang="en-US" sz="1800" b="1" i="1" dirty="0">
                <a:latin typeface="Times New Roman" panose="02020603050405020304" pitchFamily="18" charset="0"/>
                <a:cs typeface="Times New Roman" panose="02020603050405020304" pitchFamily="18" charset="0"/>
              </a:rPr>
              <a:t>PRESENTED BY:</a:t>
            </a:r>
          </a:p>
          <a:p>
            <a:r>
              <a:rPr lang="en-US" sz="1800" b="1" i="1" dirty="0">
                <a:latin typeface="Times New Roman" panose="02020603050405020304" pitchFamily="18" charset="0"/>
                <a:cs typeface="Times New Roman" panose="02020603050405020304" pitchFamily="18" charset="0"/>
              </a:rPr>
              <a:t>E.KOHITHA</a:t>
            </a:r>
          </a:p>
          <a:p>
            <a:r>
              <a:rPr lang="en-US" sz="1800" b="1" i="1" dirty="0">
                <a:latin typeface="Times New Roman" panose="02020603050405020304" pitchFamily="18" charset="0"/>
                <a:cs typeface="Times New Roman" panose="02020603050405020304" pitchFamily="18" charset="0"/>
              </a:rPr>
              <a:t>P.KEERTHANA</a:t>
            </a:r>
          </a:p>
          <a:p>
            <a:r>
              <a:rPr lang="en-US" sz="1800" b="1" i="1" dirty="0">
                <a:latin typeface="Times New Roman" panose="02020603050405020304" pitchFamily="18" charset="0"/>
                <a:cs typeface="Times New Roman" panose="02020603050405020304" pitchFamily="18" charset="0"/>
              </a:rPr>
              <a:t>SAI SHIVANI</a:t>
            </a:r>
          </a:p>
          <a:p>
            <a:r>
              <a:rPr lang="en-US" sz="1800" b="1" i="1" dirty="0">
                <a:latin typeface="Times New Roman" panose="02020603050405020304" pitchFamily="18" charset="0"/>
                <a:cs typeface="Times New Roman" panose="02020603050405020304" pitchFamily="18" charset="0"/>
              </a:rPr>
              <a:t>HIRA NAJAM</a:t>
            </a:r>
          </a:p>
        </p:txBody>
      </p:sp>
    </p:spTree>
    <p:extLst>
      <p:ext uri="{BB962C8B-B14F-4D97-AF65-F5344CB8AC3E}">
        <p14:creationId xmlns:p14="http://schemas.microsoft.com/office/powerpoint/2010/main" val="97882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16D9749-7B55-498F-A5E2-537E570A3578}"/>
              </a:ext>
            </a:extLst>
          </p:cNvPr>
          <p:cNvSpPr>
            <a:spLocks noGrp="1"/>
          </p:cNvSpPr>
          <p:nvPr>
            <p:ph type="title"/>
          </p:nvPr>
        </p:nvSpPr>
        <p:spPr>
          <a:xfrm>
            <a:off x="1371600" y="685800"/>
            <a:ext cx="9601200" cy="865094"/>
          </a:xfrm>
        </p:spPr>
        <p:txBody>
          <a:bodyPr>
            <a:normAutofit/>
          </a:bodyPr>
          <a:lstStyle/>
          <a:p>
            <a:pPr algn="ctr"/>
            <a:r>
              <a:rPr lang="en-US" sz="2800" b="1" i="1" dirty="0">
                <a:latin typeface="Times New Roman" panose="02020603050405020304" pitchFamily="18" charset="0"/>
                <a:cs typeface="Times New Roman" panose="02020603050405020304" pitchFamily="18" charset="0"/>
              </a:rPr>
              <a:t>INTRODUCTION TO DEBUGGING</a:t>
            </a:r>
            <a:endParaRPr lang="en-IN" sz="2800" b="1" i="1" dirty="0">
              <a:latin typeface="Times New Roman" panose="02020603050405020304" pitchFamily="18" charset="0"/>
              <a:cs typeface="Times New Roman" panose="02020603050405020304" pitchFamily="18" charset="0"/>
            </a:endParaRPr>
          </a:p>
        </p:txBody>
      </p:sp>
      <p:pic>
        <p:nvPicPr>
          <p:cNvPr id="1026" name="Picture 2" descr="a computer screen with a bunch of code on it">
            <a:extLst>
              <a:ext uri="{FF2B5EF4-FFF2-40B4-BE49-F238E27FC236}">
                <a16:creationId xmlns:a16="http://schemas.microsoft.com/office/drawing/2014/main" id="{343B2DE3-3642-4F35-8E31-BCF31DA6F1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219201" y="2171699"/>
            <a:ext cx="4652681" cy="4094629"/>
          </a:xfrm>
        </p:spPr>
      </p:pic>
      <p:sp>
        <p:nvSpPr>
          <p:cNvPr id="21" name="TextBox 20">
            <a:extLst>
              <a:ext uri="{FF2B5EF4-FFF2-40B4-BE49-F238E27FC236}">
                <a16:creationId xmlns:a16="http://schemas.microsoft.com/office/drawing/2014/main" id="{30AE4B90-671D-44FA-8C07-185FDEE680AF}"/>
              </a:ext>
            </a:extLst>
          </p:cNvPr>
          <p:cNvSpPr txBox="1"/>
          <p:nvPr/>
        </p:nvSpPr>
        <p:spPr>
          <a:xfrm>
            <a:off x="6096000" y="2413338"/>
            <a:ext cx="5441576" cy="378206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Debugging is the process of finding and fixing errors in a program</a:t>
            </a:r>
          </a:p>
          <a:p>
            <a:pPr marL="285750" indent="-285750">
              <a:lnSpc>
                <a:spcPct val="150000"/>
              </a:lnSpc>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Errors in a program are commonly called bugs</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Developers use debugging tools to find the exact source of the problem.</a:t>
            </a:r>
          </a:p>
          <a:p>
            <a:pPr marL="285750" indent="-285750">
              <a:lnSpc>
                <a:spcPct val="150000"/>
              </a:lnSpc>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After fixing the bug, the program is tested again to make sure it works properly</a:t>
            </a:r>
            <a:r>
              <a:rPr lang="en-US" dirty="0"/>
              <a:t>.</a:t>
            </a:r>
          </a:p>
          <a:p>
            <a:pPr marL="285750" indent="-285750">
              <a:lnSpc>
                <a:spcPct val="150000"/>
              </a:lnSpc>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It helps identify why the program is not working correctly.</a:t>
            </a: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75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B8E6-D17F-4450-A7B5-ED71232474D9}"/>
              </a:ext>
            </a:extLst>
          </p:cNvPr>
          <p:cNvSpPr>
            <a:spLocks noGrp="1"/>
          </p:cNvSpPr>
          <p:nvPr>
            <p:ph type="title"/>
          </p:nvPr>
        </p:nvSpPr>
        <p:spPr>
          <a:xfrm>
            <a:off x="1371600" y="685800"/>
            <a:ext cx="9601200" cy="542365"/>
          </a:xfrm>
        </p:spPr>
        <p:txBody>
          <a:bodyPr>
            <a:normAutofit/>
          </a:bodyPr>
          <a:lstStyle/>
          <a:p>
            <a:pPr algn="ctr"/>
            <a:r>
              <a:rPr lang="en-US" sz="2800" b="1" i="1" dirty="0">
                <a:latin typeface="Times New Roman" panose="02020603050405020304" pitchFamily="18" charset="0"/>
                <a:cs typeface="Times New Roman" panose="02020603050405020304" pitchFamily="18" charset="0"/>
              </a:rPr>
              <a:t>TYPES OF ERRORS</a:t>
            </a:r>
            <a:endParaRPr lang="en-IN" sz="2800" b="1" i="1"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166CFD02-26B6-4EC3-863A-88C3EA611CF0}"/>
              </a:ext>
            </a:extLst>
          </p:cNvPr>
          <p:cNvSpPr>
            <a:spLocks noGrp="1" noChangeArrowheads="1"/>
          </p:cNvSpPr>
          <p:nvPr>
            <p:ph idx="1"/>
          </p:nvPr>
        </p:nvSpPr>
        <p:spPr bwMode="auto">
          <a:xfrm>
            <a:off x="1371600" y="2023147"/>
            <a:ext cx="3101788" cy="307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Syntax Error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Runtime Error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Logical Error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Compilation Error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Semantic Error </a:t>
            </a:r>
          </a:p>
        </p:txBody>
      </p:sp>
      <p:pic>
        <p:nvPicPr>
          <p:cNvPr id="8" name="Picture 7">
            <a:extLst>
              <a:ext uri="{FF2B5EF4-FFF2-40B4-BE49-F238E27FC236}">
                <a16:creationId xmlns:a16="http://schemas.microsoft.com/office/drawing/2014/main" id="{70406F2F-66B1-4EF9-986B-D8D5978490E1}"/>
              </a:ext>
            </a:extLst>
          </p:cNvPr>
          <p:cNvPicPr>
            <a:picLocks noChangeAspect="1"/>
          </p:cNvPicPr>
          <p:nvPr/>
        </p:nvPicPr>
        <p:blipFill>
          <a:blip r:embed="rId2"/>
          <a:stretch>
            <a:fillRect/>
          </a:stretch>
        </p:blipFill>
        <p:spPr>
          <a:xfrm>
            <a:off x="4518212" y="2106706"/>
            <a:ext cx="6721288" cy="3657599"/>
          </a:xfrm>
          <a:prstGeom prst="rect">
            <a:avLst/>
          </a:prstGeom>
        </p:spPr>
      </p:pic>
    </p:spTree>
    <p:extLst>
      <p:ext uri="{BB962C8B-B14F-4D97-AF65-F5344CB8AC3E}">
        <p14:creationId xmlns:p14="http://schemas.microsoft.com/office/powerpoint/2010/main" val="2124642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6D6A-89B9-46DC-B2E6-D007A4E258D5}"/>
              </a:ext>
            </a:extLst>
          </p:cNvPr>
          <p:cNvSpPr>
            <a:spLocks noGrp="1"/>
          </p:cNvSpPr>
          <p:nvPr>
            <p:ph type="title"/>
          </p:nvPr>
        </p:nvSpPr>
        <p:spPr/>
        <p:txBody>
          <a:bodyPr>
            <a:normAutofit/>
          </a:bodyPr>
          <a:lstStyle/>
          <a:p>
            <a:pPr algn="ctr"/>
            <a:r>
              <a:rPr lang="en-US" sz="2800" b="1" i="1" dirty="0">
                <a:latin typeface="Times New Roman" panose="02020603050405020304" pitchFamily="18" charset="0"/>
                <a:cs typeface="Times New Roman" panose="02020603050405020304" pitchFamily="18" charset="0"/>
              </a:rPr>
              <a:t>DEBUGGING</a:t>
            </a:r>
            <a:r>
              <a:rPr lang="en-US" sz="3200" b="1"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PROCESS</a:t>
            </a:r>
            <a:endParaRPr lang="en-IN" sz="2800" b="1" i="1" dirty="0">
              <a:latin typeface="Times New Roman" panose="02020603050405020304" pitchFamily="18" charset="0"/>
              <a:cs typeface="Times New Roman" panose="02020603050405020304" pitchFamily="18" charset="0"/>
            </a:endParaRPr>
          </a:p>
        </p:txBody>
      </p:sp>
      <p:pic>
        <p:nvPicPr>
          <p:cNvPr id="15" name="Content Placeholder 9">
            <a:extLst>
              <a:ext uri="{FF2B5EF4-FFF2-40B4-BE49-F238E27FC236}">
                <a16:creationId xmlns:a16="http://schemas.microsoft.com/office/drawing/2014/main" id="{C0A10CCE-F8AE-4557-AFF9-4AEDB4F96FBA}"/>
              </a:ext>
            </a:extLst>
          </p:cNvPr>
          <p:cNvPicPr>
            <a:picLocks noChangeAspect="1"/>
          </p:cNvPicPr>
          <p:nvPr/>
        </p:nvPicPr>
        <p:blipFill>
          <a:blip r:embed="rId2"/>
          <a:stretch>
            <a:fillRect/>
          </a:stretch>
        </p:blipFill>
        <p:spPr>
          <a:xfrm>
            <a:off x="1288396" y="1772769"/>
            <a:ext cx="4788834" cy="3711389"/>
          </a:xfrm>
          <a:prstGeom prst="rect">
            <a:avLst/>
          </a:prstGeom>
        </p:spPr>
      </p:pic>
      <p:sp>
        <p:nvSpPr>
          <p:cNvPr id="16" name="Rectangle 7">
            <a:extLst>
              <a:ext uri="{FF2B5EF4-FFF2-40B4-BE49-F238E27FC236}">
                <a16:creationId xmlns:a16="http://schemas.microsoft.com/office/drawing/2014/main" id="{225E636C-38E6-449F-8D44-87597D31E949}"/>
              </a:ext>
            </a:extLst>
          </p:cNvPr>
          <p:cNvSpPr>
            <a:spLocks noGrp="1" noChangeArrowheads="1"/>
          </p:cNvSpPr>
          <p:nvPr>
            <p:ph sz="half" idx="2"/>
          </p:nvPr>
        </p:nvSpPr>
        <p:spPr bwMode="auto">
          <a:xfrm>
            <a:off x="6651812" y="1464618"/>
            <a:ext cx="4168588" cy="418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Error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Reproduce the Problem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Locate the Bug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the Cause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 the Bug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the Solution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Verify the Program </a:t>
            </a:r>
          </a:p>
        </p:txBody>
      </p:sp>
    </p:spTree>
    <p:extLst>
      <p:ext uri="{BB962C8B-B14F-4D97-AF65-F5344CB8AC3E}">
        <p14:creationId xmlns:p14="http://schemas.microsoft.com/office/powerpoint/2010/main" val="408344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761B1-E2C7-44AE-96EF-4922DF8A733C}"/>
              </a:ext>
            </a:extLst>
          </p:cNvPr>
          <p:cNvSpPr>
            <a:spLocks noGrp="1"/>
          </p:cNvSpPr>
          <p:nvPr>
            <p:ph type="title"/>
          </p:nvPr>
        </p:nvSpPr>
        <p:spPr/>
        <p:txBody>
          <a:bodyPr/>
          <a:lstStyle/>
          <a:p>
            <a:pPr algn="ctr"/>
            <a:r>
              <a:rPr lang="en-US" sz="2800" b="1" i="1" dirty="0">
                <a:latin typeface="Times New Roman" panose="02020603050405020304" pitchFamily="18" charset="0"/>
                <a:cs typeface="Times New Roman" panose="02020603050405020304" pitchFamily="18" charset="0"/>
              </a:rPr>
              <a:t>DEBUGGING</a:t>
            </a:r>
            <a:r>
              <a:rPr lang="en-US" b="1" i="1" dirty="0">
                <a:latin typeface="Times New Roman" panose="02020603050405020304" pitchFamily="18" charset="0"/>
                <a:cs typeface="Times New Roman" panose="02020603050405020304" pitchFamily="18" charset="0"/>
              </a:rPr>
              <a:t> </a:t>
            </a:r>
            <a:r>
              <a:rPr lang="en-IN" sz="2800" b="1" i="1" dirty="0">
                <a:latin typeface="Times New Roman" panose="02020603050405020304" pitchFamily="18" charset="0"/>
                <a:cs typeface="Times New Roman" panose="02020603050405020304" pitchFamily="18" charset="0"/>
              </a:rPr>
              <a:t>TECHNIQUES</a:t>
            </a:r>
          </a:p>
        </p:txBody>
      </p:sp>
      <p:pic>
        <p:nvPicPr>
          <p:cNvPr id="7" name="Content Placeholder 6">
            <a:extLst>
              <a:ext uri="{FF2B5EF4-FFF2-40B4-BE49-F238E27FC236}">
                <a16:creationId xmlns:a16="http://schemas.microsoft.com/office/drawing/2014/main" id="{F7567F08-46FD-48FE-837B-AF9ACEF5BE86}"/>
              </a:ext>
            </a:extLst>
          </p:cNvPr>
          <p:cNvPicPr>
            <a:picLocks noGrp="1" noChangeAspect="1"/>
          </p:cNvPicPr>
          <p:nvPr>
            <p:ph sz="half" idx="2"/>
          </p:nvPr>
        </p:nvPicPr>
        <p:blipFill>
          <a:blip r:embed="rId2"/>
          <a:stretch>
            <a:fillRect/>
          </a:stretch>
        </p:blipFill>
        <p:spPr>
          <a:xfrm>
            <a:off x="5531225" y="2088777"/>
            <a:ext cx="5764304" cy="3989294"/>
          </a:xfrm>
          <a:prstGeom prst="rect">
            <a:avLst/>
          </a:prstGeom>
        </p:spPr>
      </p:pic>
      <p:sp>
        <p:nvSpPr>
          <p:cNvPr id="5" name="Rectangle 1">
            <a:extLst>
              <a:ext uri="{FF2B5EF4-FFF2-40B4-BE49-F238E27FC236}">
                <a16:creationId xmlns:a16="http://schemas.microsoft.com/office/drawing/2014/main" id="{049A91FE-0883-44AA-A72E-AE40ADEA7046}"/>
              </a:ext>
            </a:extLst>
          </p:cNvPr>
          <p:cNvSpPr>
            <a:spLocks noGrp="1" noChangeArrowheads="1"/>
          </p:cNvSpPr>
          <p:nvPr>
            <p:ph sz="half" idx="1"/>
          </p:nvPr>
        </p:nvSpPr>
        <p:spPr bwMode="auto">
          <a:xfrm>
            <a:off x="1371600" y="2263222"/>
            <a:ext cx="3578224" cy="36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Breakpoints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 Statements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Step-by-Step Execution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Inspection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Backtracking </a:t>
            </a:r>
          </a:p>
        </p:txBody>
      </p:sp>
    </p:spTree>
    <p:extLst>
      <p:ext uri="{BB962C8B-B14F-4D97-AF65-F5344CB8AC3E}">
        <p14:creationId xmlns:p14="http://schemas.microsoft.com/office/powerpoint/2010/main" val="192398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69D69-F7D7-421E-AAED-08A8ED505FED}"/>
              </a:ext>
            </a:extLst>
          </p:cNvPr>
          <p:cNvSpPr>
            <a:spLocks noGrp="1"/>
          </p:cNvSpPr>
          <p:nvPr>
            <p:ph type="title"/>
          </p:nvPr>
        </p:nvSpPr>
        <p:spPr>
          <a:xfrm>
            <a:off x="1371600" y="685800"/>
            <a:ext cx="9601200" cy="748553"/>
          </a:xfrm>
        </p:spPr>
        <p:txBody>
          <a:bodyPr>
            <a:normAutofit/>
          </a:bodyPr>
          <a:lstStyle/>
          <a:p>
            <a:pPr algn="ctr"/>
            <a:r>
              <a:rPr lang="en-US" sz="2800" b="1" i="1" dirty="0">
                <a:latin typeface="Times New Roman" panose="02020603050405020304" pitchFamily="18" charset="0"/>
                <a:cs typeface="Times New Roman" panose="02020603050405020304" pitchFamily="18" charset="0"/>
              </a:rPr>
              <a:t>REAL TIME EXAMPLE</a:t>
            </a:r>
            <a:endParaRPr lang="en-IN" sz="2800" b="1" i="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FFD1E32-5602-42BE-B27D-A8338D4132D2}"/>
              </a:ext>
            </a:extLst>
          </p:cNvPr>
          <p:cNvPicPr>
            <a:picLocks noGrp="1" noChangeAspect="1"/>
          </p:cNvPicPr>
          <p:nvPr>
            <p:ph sz="half" idx="1"/>
          </p:nvPr>
        </p:nvPicPr>
        <p:blipFill>
          <a:blip r:embed="rId2"/>
          <a:stretch>
            <a:fillRect/>
          </a:stretch>
        </p:blipFill>
        <p:spPr>
          <a:xfrm>
            <a:off x="1371600" y="1999129"/>
            <a:ext cx="4939553" cy="3857475"/>
          </a:xfrm>
          <a:prstGeom prst="rect">
            <a:avLst/>
          </a:prstGeom>
        </p:spPr>
      </p:pic>
      <p:sp>
        <p:nvSpPr>
          <p:cNvPr id="5" name="Rectangle 1">
            <a:extLst>
              <a:ext uri="{FF2B5EF4-FFF2-40B4-BE49-F238E27FC236}">
                <a16:creationId xmlns:a16="http://schemas.microsoft.com/office/drawing/2014/main" id="{F60EB620-62AD-4153-9373-F70556AB415B}"/>
              </a:ext>
            </a:extLst>
          </p:cNvPr>
          <p:cNvSpPr>
            <a:spLocks noGrp="1" noChangeArrowheads="1"/>
          </p:cNvSpPr>
          <p:nvPr>
            <p:ph sz="half" idx="2"/>
          </p:nvPr>
        </p:nvSpPr>
        <p:spPr bwMode="auto">
          <a:xfrm>
            <a:off x="6525403" y="2540221"/>
            <a:ext cx="2725426" cy="307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ATM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Websites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Shopping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Banking Apps </a:t>
            </a:r>
          </a:p>
        </p:txBody>
      </p:sp>
    </p:spTree>
    <p:extLst>
      <p:ext uri="{BB962C8B-B14F-4D97-AF65-F5344CB8AC3E}">
        <p14:creationId xmlns:p14="http://schemas.microsoft.com/office/powerpoint/2010/main" val="122875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70A8-A4E4-4F79-91FE-351E2B03E2DC}"/>
              </a:ext>
            </a:extLst>
          </p:cNvPr>
          <p:cNvSpPr>
            <a:spLocks noGrp="1"/>
          </p:cNvSpPr>
          <p:nvPr>
            <p:ph type="title"/>
          </p:nvPr>
        </p:nvSpPr>
        <p:spPr/>
        <p:txBody>
          <a:bodyPr>
            <a:normAutofit/>
          </a:bodyPr>
          <a:lstStyle/>
          <a:p>
            <a:pPr algn="ctr"/>
            <a:r>
              <a:rPr lang="en-US" sz="3600" b="1" i="1" dirty="0">
                <a:latin typeface="Times New Roman" panose="02020603050405020304" pitchFamily="18" charset="0"/>
                <a:cs typeface="Times New Roman" panose="02020603050405020304" pitchFamily="18" charset="0"/>
              </a:rPr>
              <a:t>ADVANTAGES</a:t>
            </a:r>
            <a:endParaRPr lang="en-IN" sz="3600" b="1" i="1"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3E66E425-5D33-4C70-8E8C-3C7A66A74E66}"/>
              </a:ext>
            </a:extLst>
          </p:cNvPr>
          <p:cNvSpPr>
            <a:spLocks noGrp="1" noChangeArrowheads="1"/>
          </p:cNvSpPr>
          <p:nvPr>
            <p:ph sz="half" idx="1"/>
          </p:nvPr>
        </p:nvSpPr>
        <p:spPr bwMode="auto">
          <a:xfrm>
            <a:off x="1371600" y="2283758"/>
            <a:ext cx="4894729" cy="3154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code quality </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Finds errors quickly </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development time </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program performance </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Increases software reliability</a:t>
            </a:r>
            <a:r>
              <a:rPr kumimoji="0" lang="en-US" altLang="en-US" sz="2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16" name="Content Placeholder 15">
            <a:extLst>
              <a:ext uri="{FF2B5EF4-FFF2-40B4-BE49-F238E27FC236}">
                <a16:creationId xmlns:a16="http://schemas.microsoft.com/office/drawing/2014/main" id="{D8FD5256-E4C9-4054-B56B-BCB8C88CC982}"/>
              </a:ext>
            </a:extLst>
          </p:cNvPr>
          <p:cNvPicPr>
            <a:picLocks noGrp="1" noChangeAspect="1"/>
          </p:cNvPicPr>
          <p:nvPr>
            <p:ph sz="half" idx="2"/>
          </p:nvPr>
        </p:nvPicPr>
        <p:blipFill>
          <a:blip r:embed="rId2"/>
          <a:stretch>
            <a:fillRect/>
          </a:stretch>
        </p:blipFill>
        <p:spPr>
          <a:xfrm>
            <a:off x="6453847" y="2283758"/>
            <a:ext cx="4446295" cy="3581400"/>
          </a:xfrm>
          <a:prstGeom prst="rect">
            <a:avLst/>
          </a:prstGeom>
        </p:spPr>
      </p:pic>
      <p:pic>
        <p:nvPicPr>
          <p:cNvPr id="17" name="Picture 16">
            <a:extLst>
              <a:ext uri="{FF2B5EF4-FFF2-40B4-BE49-F238E27FC236}">
                <a16:creationId xmlns:a16="http://schemas.microsoft.com/office/drawing/2014/main" id="{875A803A-B6CE-4C9C-A383-D94079091AAA}"/>
              </a:ext>
            </a:extLst>
          </p:cNvPr>
          <p:cNvPicPr>
            <a:picLocks noChangeAspect="1"/>
          </p:cNvPicPr>
          <p:nvPr/>
        </p:nvPicPr>
        <p:blipFill>
          <a:blip r:embed="rId3"/>
          <a:stretch>
            <a:fillRect/>
          </a:stretch>
        </p:blipFill>
        <p:spPr>
          <a:xfrm>
            <a:off x="7175406" y="2171700"/>
            <a:ext cx="2372006" cy="3431241"/>
          </a:xfrm>
          <a:prstGeom prst="rect">
            <a:avLst/>
          </a:prstGeom>
        </p:spPr>
      </p:pic>
    </p:spTree>
    <p:extLst>
      <p:ext uri="{BB962C8B-B14F-4D97-AF65-F5344CB8AC3E}">
        <p14:creationId xmlns:p14="http://schemas.microsoft.com/office/powerpoint/2010/main" val="114779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76D59-B2D9-4DBA-892F-7951BEBCE20F}"/>
              </a:ext>
            </a:extLst>
          </p:cNvPr>
          <p:cNvSpPr>
            <a:spLocks noGrp="1"/>
          </p:cNvSpPr>
          <p:nvPr>
            <p:ph type="title"/>
          </p:nvPr>
        </p:nvSpPr>
        <p:spPr>
          <a:xfrm>
            <a:off x="1371600" y="685800"/>
            <a:ext cx="9601200" cy="623047"/>
          </a:xfrm>
        </p:spPr>
        <p:txBody>
          <a:bodyPr>
            <a:normAutofit/>
          </a:bodyPr>
          <a:lstStyle/>
          <a:p>
            <a:pPr algn="ctr"/>
            <a:r>
              <a:rPr lang="en-US" sz="3200" b="1" i="1" dirty="0">
                <a:latin typeface="Times New Roman" panose="02020603050405020304" pitchFamily="18" charset="0"/>
                <a:cs typeface="Times New Roman" panose="02020603050405020304" pitchFamily="18" charset="0"/>
              </a:rPr>
              <a:t>DISADVANTAGES</a:t>
            </a:r>
            <a:endParaRPr lang="en-IN" sz="3200" b="1" i="1" dirty="0">
              <a:latin typeface="Times New Roman" panose="02020603050405020304" pitchFamily="18" charset="0"/>
              <a:cs typeface="Times New Roman" panose="02020603050405020304" pitchFamily="18" charset="0"/>
            </a:endParaRPr>
          </a:p>
        </p:txBody>
      </p:sp>
      <p:pic>
        <p:nvPicPr>
          <p:cNvPr id="8" name="Content Placeholder 4">
            <a:extLst>
              <a:ext uri="{FF2B5EF4-FFF2-40B4-BE49-F238E27FC236}">
                <a16:creationId xmlns:a16="http://schemas.microsoft.com/office/drawing/2014/main" id="{DAC3C51B-AE2D-486A-8E3B-3CBFF87BF778}"/>
              </a:ext>
            </a:extLst>
          </p:cNvPr>
          <p:cNvPicPr>
            <a:picLocks noGrp="1" noChangeAspect="1"/>
          </p:cNvPicPr>
          <p:nvPr>
            <p:ph sz="half" idx="2"/>
          </p:nvPr>
        </p:nvPicPr>
        <p:blipFill>
          <a:blip r:embed="rId2"/>
          <a:stretch>
            <a:fillRect/>
          </a:stretch>
        </p:blipFill>
        <p:spPr>
          <a:xfrm>
            <a:off x="7664824" y="2357718"/>
            <a:ext cx="2259105" cy="3334870"/>
          </a:xfrm>
          <a:prstGeom prst="rect">
            <a:avLst/>
          </a:prstGeom>
        </p:spPr>
      </p:pic>
      <p:sp>
        <p:nvSpPr>
          <p:cNvPr id="9" name="Rectangle 1">
            <a:extLst>
              <a:ext uri="{FF2B5EF4-FFF2-40B4-BE49-F238E27FC236}">
                <a16:creationId xmlns:a16="http://schemas.microsoft.com/office/drawing/2014/main" id="{58C974F0-36B4-4D38-9420-6906F21AFF10}"/>
              </a:ext>
            </a:extLst>
          </p:cNvPr>
          <p:cNvSpPr>
            <a:spLocks noGrp="1" noChangeArrowheads="1"/>
          </p:cNvSpPr>
          <p:nvPr>
            <p:ph sz="half" idx="1"/>
          </p:nvPr>
        </p:nvSpPr>
        <p:spPr bwMode="auto">
          <a:xfrm>
            <a:off x="1371600" y="2472349"/>
            <a:ext cx="4805082" cy="307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skilled developers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delay project delivery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increase development costs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 bugs are difficult to find </a:t>
            </a:r>
          </a:p>
        </p:txBody>
      </p:sp>
    </p:spTree>
    <p:extLst>
      <p:ext uri="{BB962C8B-B14F-4D97-AF65-F5344CB8AC3E}">
        <p14:creationId xmlns:p14="http://schemas.microsoft.com/office/powerpoint/2010/main" val="1820723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B9126-A4FC-4E4F-A882-FD16FD716CB2}"/>
              </a:ext>
            </a:extLst>
          </p:cNvPr>
          <p:cNvSpPr>
            <a:spLocks noGrp="1"/>
          </p:cNvSpPr>
          <p:nvPr>
            <p:ph type="title"/>
          </p:nvPr>
        </p:nvSpPr>
        <p:spPr/>
        <p:txBody>
          <a:bodyPr>
            <a:normAutofit/>
          </a:bodyPr>
          <a:lstStyle/>
          <a:p>
            <a:pPr algn="ctr"/>
            <a:r>
              <a:rPr lang="en-US" sz="3200" b="1" i="1" dirty="0">
                <a:latin typeface="Times New Roman" panose="02020603050405020304" pitchFamily="18" charset="0"/>
                <a:cs typeface="Times New Roman" panose="02020603050405020304" pitchFamily="18" charset="0"/>
              </a:rPr>
              <a:t>CONCLUSION</a:t>
            </a:r>
            <a:endParaRPr lang="en-IN" sz="3200" b="1" i="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2A38E3-2D4B-4C6A-91C9-B0B300F5D024}"/>
              </a:ext>
            </a:extLst>
          </p:cNvPr>
          <p:cNvSpPr>
            <a:spLocks noGrp="1"/>
          </p:cNvSpPr>
          <p:nvPr>
            <p:ph sz="half" idx="1"/>
          </p:nvPr>
        </p:nvSpPr>
        <p:spPr>
          <a:xfrm>
            <a:off x="1371599" y="1264024"/>
            <a:ext cx="10201835" cy="4329952"/>
          </a:xfrm>
        </p:spPr>
        <p:txBody>
          <a:bodyPr>
            <a:normAutofit/>
          </a:bodyPr>
          <a:lstStyle/>
          <a:p>
            <a:pPr marL="0" indent="0">
              <a:buNone/>
            </a:pPr>
            <a:endParaRPr lang="en-US" dirty="0"/>
          </a:p>
          <a:p>
            <a:endParaRPr lang="en-US" dirty="0"/>
          </a:p>
          <a:p>
            <a:pPr marL="0" indent="0">
              <a:buNone/>
            </a:pPr>
            <a:r>
              <a:rPr lang="en-US" sz="2400" i="1" dirty="0">
                <a:latin typeface="Times New Roman" panose="02020603050405020304" pitchFamily="18" charset="0"/>
                <a:cs typeface="Times New Roman" panose="02020603050405020304" pitchFamily="18" charset="0"/>
              </a:rPr>
              <a:t>To conclude, debugging plays an important role in making a program work properly. Errors are common while writing code, but debugging helps us identify where the problem occurs and correct it. It also helps improve the quality, performance, and reliability of software. By carefully testing and fixing errors, developers can create programs that are more accurate and user-friendly. So, debugging is not just about fixing mistakes, but also about making software better and more dependable.</a:t>
            </a:r>
          </a:p>
          <a:p>
            <a:endParaRPr lang="en-IN" dirty="0"/>
          </a:p>
        </p:txBody>
      </p:sp>
    </p:spTree>
    <p:extLst>
      <p:ext uri="{BB962C8B-B14F-4D97-AF65-F5344CB8AC3E}">
        <p14:creationId xmlns:p14="http://schemas.microsoft.com/office/powerpoint/2010/main" val="406896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5383F-7817-4F14-8877-6B3BA48D7007}"/>
              </a:ext>
            </a:extLst>
          </p:cNvPr>
          <p:cNvSpPr>
            <a:spLocks noGrp="1"/>
          </p:cNvSpPr>
          <p:nvPr>
            <p:ph type="ctrTitle"/>
          </p:nvPr>
        </p:nvSpPr>
        <p:spPr/>
        <p:txBody>
          <a:bodyPr/>
          <a:lstStyle/>
          <a:p>
            <a:r>
              <a:rPr lang="en-US" sz="6000" b="1" i="1" dirty="0" err="1">
                <a:latin typeface="Times New Roman" panose="02020603050405020304" pitchFamily="18" charset="0"/>
                <a:cs typeface="Times New Roman" panose="02020603050405020304" pitchFamily="18" charset="0"/>
              </a:rPr>
              <a:t>THAnK</a:t>
            </a:r>
            <a:r>
              <a:rPr lang="en-US" sz="6000" b="1" i="1" dirty="0">
                <a:latin typeface="Times New Roman" panose="02020603050405020304" pitchFamily="18" charset="0"/>
                <a:cs typeface="Times New Roman" panose="02020603050405020304" pitchFamily="18" charset="0"/>
              </a:rPr>
              <a:t> YOU</a:t>
            </a:r>
            <a:endParaRPr lang="en-IN" sz="6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15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{5307B976-06E6-46C0-8FF5-E9456D185E68}TFc3084226-2d0c-440f-9f46-6b48c7a7f670e6ba4a85-fc4a2881d6b3</Template>
  <TotalTime>105</TotalTime>
  <Words>262</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Franklin Gothic Book</vt:lpstr>
      <vt:lpstr>Times New Roman</vt:lpstr>
      <vt:lpstr>Wingdings</vt:lpstr>
      <vt:lpstr>Crop</vt:lpstr>
      <vt:lpstr>DEBUGGING</vt:lpstr>
      <vt:lpstr>INTRODUCTION TO DEBUGGING</vt:lpstr>
      <vt:lpstr>TYPES OF ERRORS</vt:lpstr>
      <vt:lpstr>DEBUGGING PROCESS</vt:lpstr>
      <vt:lpstr>DEBUGGING TECHNIQUES</vt:lpstr>
      <vt:lpstr>REAL TIME EXAMPLE</vt:lpstr>
      <vt:lpstr>ADVANTAGES</vt:lpstr>
      <vt:lpstr>DISADVANTAGES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dc:title>
  <dc:creator>Admin</dc:creator>
  <cp:lastModifiedBy>Admin</cp:lastModifiedBy>
  <cp:revision>4</cp:revision>
  <dcterms:created xsi:type="dcterms:W3CDTF">2026-08-10T06:16:36Z</dcterms:created>
  <dcterms:modified xsi:type="dcterms:W3CDTF">2026-09-01T18:49:40Z</dcterms:modified>
</cp:coreProperties>
</file>