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4"/>
  </p:notesMasterIdLst>
  <p:sldIdLst>
    <p:sldId id="256" r:id="rId2"/>
    <p:sldId id="257" r:id="rId3"/>
    <p:sldId id="259" r:id="rId4"/>
    <p:sldId id="271" r:id="rId5"/>
    <p:sldId id="272" r:id="rId6"/>
    <p:sldId id="274" r:id="rId7"/>
    <p:sldId id="273" r:id="rId8"/>
    <p:sldId id="267" r:id="rId9"/>
    <p:sldId id="265" r:id="rId10"/>
    <p:sldId id="275" r:id="rId11"/>
    <p:sldId id="268" r:id="rId12"/>
    <p:sldId id="27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jiidfoIsruvVk0/BR7GS8ttRdPm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23"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5"/>
        <p:cNvGrpSpPr/>
        <p:nvPr/>
      </p:nvGrpSpPr>
      <p:grpSpPr>
        <a:xfrm>
          <a:off x="0" y="0"/>
          <a:ext cx="0" cy="0"/>
          <a:chOff x="0" y="0"/>
          <a:chExt cx="0" cy="0"/>
        </a:xfrm>
      </p:grpSpPr>
      <p:sp>
        <p:nvSpPr>
          <p:cNvPr id="16" name="Google Shape;16;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7"/>
          <p:cNvSpPr>
            <a:spLocks noGrp="1"/>
          </p:cNvSpPr>
          <p:nvPr>
            <p:ph type="pic" idx="2"/>
          </p:nvPr>
        </p:nvSpPr>
        <p:spPr>
          <a:xfrm>
            <a:off x="5183188" y="987425"/>
            <a:ext cx="6172200" cy="4873625"/>
          </a:xfrm>
          <a:prstGeom prst="rect">
            <a:avLst/>
          </a:prstGeom>
          <a:noFill/>
          <a:ln>
            <a:noFill/>
          </a:ln>
        </p:spPr>
      </p:sp>
      <p:sp>
        <p:nvSpPr>
          <p:cNvPr id="18" name="Google Shape;18;p1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9" name="Google Shape;19;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
        <p:cNvGrpSpPr/>
        <p:nvPr/>
      </p:nvGrpSpPr>
      <p:grpSpPr>
        <a:xfrm>
          <a:off x="0" y="0"/>
          <a:ext cx="0" cy="0"/>
          <a:chOff x="0" y="0"/>
          <a:chExt cx="0" cy="0"/>
        </a:xfrm>
      </p:grpSpPr>
      <p:sp>
        <p:nvSpPr>
          <p:cNvPr id="23" name="Google Shape;23;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
        <p:cNvGrpSpPr/>
        <p:nvPr/>
      </p:nvGrpSpPr>
      <p:grpSpPr>
        <a:xfrm>
          <a:off x="0" y="0"/>
          <a:ext cx="0" cy="0"/>
          <a:chOff x="0" y="0"/>
          <a:chExt cx="0" cy="0"/>
        </a:xfrm>
      </p:grpSpPr>
      <p:sp>
        <p:nvSpPr>
          <p:cNvPr id="27" name="Google Shape;27;p1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9" name="Google Shape;29;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2"/>
        <p:cNvGrpSpPr/>
        <p:nvPr/>
      </p:nvGrpSpPr>
      <p:grpSpPr>
        <a:xfrm>
          <a:off x="0" y="0"/>
          <a:ext cx="0" cy="0"/>
          <a:chOff x="0" y="0"/>
          <a:chExt cx="0" cy="0"/>
        </a:xfrm>
      </p:grpSpPr>
      <p:sp>
        <p:nvSpPr>
          <p:cNvPr id="33" name="Google Shape;33;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2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2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1" name="Google Shape;4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4"/>
        <p:cNvGrpSpPr/>
        <p:nvPr/>
      </p:nvGrpSpPr>
      <p:grpSpPr>
        <a:xfrm>
          <a:off x="0" y="0"/>
          <a:ext cx="0" cy="0"/>
          <a:chOff x="0" y="0"/>
          <a:chExt cx="0" cy="0"/>
        </a:xfrm>
      </p:grpSpPr>
      <p:sp>
        <p:nvSpPr>
          <p:cNvPr id="45" name="Google Shape;45;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2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2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1"/>
        <p:cNvGrpSpPr/>
        <p:nvPr/>
      </p:nvGrpSpPr>
      <p:grpSpPr>
        <a:xfrm>
          <a:off x="0" y="0"/>
          <a:ext cx="0" cy="0"/>
          <a:chOff x="0" y="0"/>
          <a:chExt cx="0" cy="0"/>
        </a:xfrm>
      </p:grpSpPr>
      <p:sp>
        <p:nvSpPr>
          <p:cNvPr id="52" name="Google Shape;52;p2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2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2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2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jp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2.jp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p:nvPr/>
        </p:nvSpPr>
        <p:spPr>
          <a:xfrm>
            <a:off x="0" y="0"/>
            <a:ext cx="12192000"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9" name="Google Shape;89;p1"/>
          <p:cNvSpPr/>
          <p:nvPr/>
        </p:nvSpPr>
        <p:spPr>
          <a:xfrm rot="2700000">
            <a:off x="6838596" y="1327668"/>
            <a:ext cx="4225136" cy="4225134"/>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90" name="Google Shape;90;p1"/>
          <p:cNvSpPr/>
          <p:nvPr/>
        </p:nvSpPr>
        <p:spPr>
          <a:xfrm rot="-2700000" flipH="1">
            <a:off x="6274246" y="753376"/>
            <a:ext cx="5353835" cy="5353835"/>
          </a:xfrm>
          <a:custGeom>
            <a:avLst/>
            <a:gdLst/>
            <a:ahLst/>
            <a:cxnLst/>
            <a:rect l="l" t="t" r="r" b="b"/>
            <a:pathLst>
              <a:path w="5353835" h="5353835" extrusionOk="0">
                <a:moveTo>
                  <a:pt x="690507" y="5273742"/>
                </a:moveTo>
                <a:lnTo>
                  <a:pt x="4938299" y="5273742"/>
                </a:lnTo>
                <a:lnTo>
                  <a:pt x="4858206" y="5353835"/>
                </a:lnTo>
                <a:lnTo>
                  <a:pt x="770600" y="5353835"/>
                </a:lnTo>
                <a:close/>
                <a:moveTo>
                  <a:pt x="433255" y="80093"/>
                </a:moveTo>
                <a:lnTo>
                  <a:pt x="513348" y="0"/>
                </a:lnTo>
                <a:lnTo>
                  <a:pt x="5353835" y="0"/>
                </a:lnTo>
                <a:lnTo>
                  <a:pt x="5353835" y="4858206"/>
                </a:lnTo>
                <a:lnTo>
                  <a:pt x="5273742" y="4938299"/>
                </a:lnTo>
                <a:lnTo>
                  <a:pt x="5273742" y="80093"/>
                </a:lnTo>
                <a:close/>
                <a:moveTo>
                  <a:pt x="0" y="513348"/>
                </a:moveTo>
                <a:lnTo>
                  <a:pt x="80093" y="433255"/>
                </a:lnTo>
                <a:lnTo>
                  <a:pt x="80093" y="4663328"/>
                </a:lnTo>
                <a:lnTo>
                  <a:pt x="0" y="4583235"/>
                </a:lnTo>
                <a:close/>
              </a:path>
            </a:pathLst>
          </a:custGeom>
          <a:solidFill>
            <a:srgbClr val="FFFFFF">
              <a:alpha val="6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1" name="Google Shape;91;p1"/>
          <p:cNvSpPr txBox="1"/>
          <p:nvPr/>
        </p:nvSpPr>
        <p:spPr>
          <a:xfrm>
            <a:off x="6734397" y="1847026"/>
            <a:ext cx="4526138" cy="2565646"/>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None/>
            </a:pPr>
            <a:r>
              <a:rPr lang="en-US" sz="4500" b="1" i="0" u="none" strike="noStrike" cap="none" dirty="0">
                <a:solidFill>
                  <a:srgbClr val="080808"/>
                </a:solidFill>
                <a:latin typeface="Lucida Sans"/>
                <a:ea typeface="Lucida Sans"/>
                <a:cs typeface="Lucida Sans"/>
                <a:sym typeface="Lucida Sans"/>
              </a:rPr>
              <a:t> </a:t>
            </a:r>
            <a:endParaRPr dirty="0"/>
          </a:p>
          <a:p>
            <a:pPr marL="0" marR="0" lvl="0" indent="0" algn="ctr" rtl="0">
              <a:lnSpc>
                <a:spcPct val="90000"/>
              </a:lnSpc>
              <a:spcBef>
                <a:spcPts val="600"/>
              </a:spcBef>
              <a:spcAft>
                <a:spcPts val="0"/>
              </a:spcAft>
              <a:buNone/>
            </a:pPr>
            <a:r>
              <a:rPr lang="en-US" sz="3600" b="1" i="1" u="none" strike="noStrike" cap="none" dirty="0">
                <a:solidFill>
                  <a:srgbClr val="080808"/>
                </a:solidFill>
                <a:latin typeface="Times New Roman"/>
                <a:ea typeface="Times New Roman"/>
                <a:cs typeface="Times New Roman"/>
                <a:sym typeface="Times New Roman"/>
              </a:rPr>
              <a:t>RAG(Retrieval</a:t>
            </a:r>
            <a:r>
              <a:rPr lang="en-US" sz="3600" b="1" i="1" dirty="0">
                <a:solidFill>
                  <a:srgbClr val="080808"/>
                </a:solidFill>
                <a:latin typeface="Times New Roman"/>
                <a:ea typeface="Times New Roman"/>
                <a:cs typeface="Times New Roman"/>
                <a:sym typeface="Times New Roman"/>
              </a:rPr>
              <a:t> </a:t>
            </a:r>
            <a:r>
              <a:rPr lang="en-US" sz="3600" b="1" i="1" dirty="0" err="1">
                <a:solidFill>
                  <a:srgbClr val="080808"/>
                </a:solidFill>
                <a:latin typeface="Times New Roman"/>
                <a:ea typeface="Times New Roman"/>
                <a:cs typeface="Times New Roman"/>
                <a:sym typeface="Times New Roman"/>
              </a:rPr>
              <a:t>Arugumented</a:t>
            </a:r>
            <a:r>
              <a:rPr lang="en-US" sz="3600" b="1" i="1" dirty="0">
                <a:solidFill>
                  <a:srgbClr val="080808"/>
                </a:solidFill>
                <a:latin typeface="Times New Roman"/>
                <a:ea typeface="Times New Roman"/>
                <a:cs typeface="Times New Roman"/>
                <a:sym typeface="Times New Roman"/>
              </a:rPr>
              <a:t> Generation)</a:t>
            </a:r>
            <a:endParaRPr sz="3600" b="1" i="1" u="none" strike="noStrike" cap="none" dirty="0">
              <a:solidFill>
                <a:srgbClr val="080808"/>
              </a:solidFill>
              <a:latin typeface="Times New Roman"/>
              <a:ea typeface="Times New Roman"/>
              <a:cs typeface="Times New Roman"/>
              <a:sym typeface="Times New Roman"/>
            </a:endParaRPr>
          </a:p>
        </p:txBody>
      </p:sp>
      <p:sp>
        <p:nvSpPr>
          <p:cNvPr id="92" name="Google Shape;92;p1"/>
          <p:cNvSpPr/>
          <p:nvPr/>
        </p:nvSpPr>
        <p:spPr>
          <a:xfrm flipH="1">
            <a:off x="-1" y="-1"/>
            <a:ext cx="7170340" cy="5062213"/>
          </a:xfrm>
          <a:custGeom>
            <a:avLst/>
            <a:gdLst/>
            <a:ahLst/>
            <a:cxnLst/>
            <a:rect l="l" t="t" r="r" b="b"/>
            <a:pathLst>
              <a:path w="7170340" h="5062213" extrusionOk="0">
                <a:moveTo>
                  <a:pt x="7170340" y="0"/>
                </a:moveTo>
                <a:lnTo>
                  <a:pt x="7170340" y="2954084"/>
                </a:lnTo>
                <a:lnTo>
                  <a:pt x="5062211" y="5062213"/>
                </a:lnTo>
                <a:lnTo>
                  <a:pt x="0" y="2"/>
                </a:lnTo>
                <a:close/>
              </a:path>
            </a:pathLst>
          </a:custGeom>
          <a:solidFill>
            <a:srgbClr val="FFFFFF"/>
          </a:solidFill>
          <a:ln w="12700" cap="flat" cmpd="sng">
            <a:solidFill>
              <a:srgbClr val="FF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4" name="Google Shape;94;p1"/>
          <p:cNvSpPr/>
          <p:nvPr/>
        </p:nvSpPr>
        <p:spPr>
          <a:xfrm rot="2700000">
            <a:off x="1111832" y="4010957"/>
            <a:ext cx="870888" cy="870888"/>
          </a:xfrm>
          <a:prstGeom prst="rect">
            <a:avLst/>
          </a:prstGeom>
          <a:solidFill>
            <a:schemeClr val="accent4">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5" name="Google Shape;95;p1"/>
          <p:cNvSpPr/>
          <p:nvPr/>
        </p:nvSpPr>
        <p:spPr>
          <a:xfrm rot="2700000">
            <a:off x="2761203" y="5394406"/>
            <a:ext cx="856138" cy="856138"/>
          </a:xfrm>
          <a:prstGeom prst="rect">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6" name="Google Shape;96;p1"/>
          <p:cNvSpPr/>
          <p:nvPr/>
        </p:nvSpPr>
        <p:spPr>
          <a:xfrm rot="2700000">
            <a:off x="3314455" y="5398229"/>
            <a:ext cx="381459" cy="381459"/>
          </a:xfrm>
          <a:prstGeom prst="rect">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7" name="Google Shape;97;p1"/>
          <p:cNvSpPr/>
          <p:nvPr/>
        </p:nvSpPr>
        <p:spPr>
          <a:xfrm rot="2700000">
            <a:off x="4675779" y="5848285"/>
            <a:ext cx="714978" cy="714978"/>
          </a:xfrm>
          <a:prstGeom prst="rect">
            <a:avLst/>
          </a:prstGeom>
          <a:solidFill>
            <a:schemeClr val="accent4">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a:off x="4392600" y="5474491"/>
            <a:ext cx="2767017" cy="1383509"/>
          </a:xfrm>
          <a:prstGeom prst="triangle">
            <a:avLst>
              <a:gd name="adj" fmla="val 50000"/>
            </a:avLst>
          </a:prstGeom>
          <a:solidFill>
            <a:schemeClr val="accent4">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9" name="Google Shape;99;p1"/>
          <p:cNvSpPr txBox="1"/>
          <p:nvPr/>
        </p:nvSpPr>
        <p:spPr>
          <a:xfrm>
            <a:off x="7518264" y="4304786"/>
            <a:ext cx="2844165"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1" u="none" strike="noStrike" cap="none" dirty="0">
                <a:solidFill>
                  <a:schemeClr val="dk1"/>
                </a:solidFill>
                <a:latin typeface="Times New Roman"/>
                <a:ea typeface="Times New Roman"/>
                <a:cs typeface="Times New Roman"/>
                <a:sym typeface="Times New Roman"/>
              </a:rPr>
              <a:t>By</a:t>
            </a:r>
            <a:endParaRPr b="1" dirty="0"/>
          </a:p>
          <a:p>
            <a:pPr marL="0" marR="0" lvl="0" indent="0" algn="ctr" rtl="0">
              <a:spcBef>
                <a:spcPts val="0"/>
              </a:spcBef>
              <a:spcAft>
                <a:spcPts val="0"/>
              </a:spcAft>
              <a:buNone/>
            </a:pPr>
            <a:r>
              <a:rPr lang="en-US" sz="2000" b="1" i="1" u="none" strike="noStrike" cap="none" dirty="0">
                <a:solidFill>
                  <a:schemeClr val="dk1"/>
                </a:solidFill>
                <a:latin typeface="Times New Roman"/>
                <a:ea typeface="Times New Roman"/>
                <a:cs typeface="Times New Roman"/>
                <a:sym typeface="Times New Roman"/>
              </a:rPr>
              <a:t>Elluri </a:t>
            </a:r>
            <a:r>
              <a:rPr lang="en-US" sz="2000" b="1" i="1" dirty="0">
                <a:solidFill>
                  <a:schemeClr val="dk1"/>
                </a:solidFill>
                <a:latin typeface="Times New Roman"/>
                <a:ea typeface="Times New Roman"/>
                <a:cs typeface="Times New Roman"/>
                <a:sym typeface="Times New Roman"/>
              </a:rPr>
              <a:t>Kohitha</a:t>
            </a:r>
            <a:endParaRPr b="1" dirty="0"/>
          </a:p>
        </p:txBody>
      </p:sp>
      <p:sp>
        <p:nvSpPr>
          <p:cNvPr id="101" name="Google Shape;101;p1"/>
          <p:cNvSpPr txBox="1"/>
          <p:nvPr/>
        </p:nvSpPr>
        <p:spPr>
          <a:xfrm>
            <a:off x="-477102" y="2290358"/>
            <a:ext cx="5710328" cy="66167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i="1" dirty="0">
                <a:solidFill>
                  <a:schemeClr val="dk1"/>
                </a:solidFill>
                <a:latin typeface="Times New Roman"/>
                <a:ea typeface="Times New Roman"/>
                <a:cs typeface="Times New Roman"/>
                <a:sym typeface="Times New Roman"/>
              </a:rPr>
              <a:t>Computer Science &amp; Engineering</a:t>
            </a:r>
            <a:endParaRPr dirty="0"/>
          </a:p>
          <a:p>
            <a:pPr marL="0" marR="0" lvl="0" indent="0" algn="ctr" rtl="0">
              <a:spcBef>
                <a:spcPts val="0"/>
              </a:spcBef>
              <a:spcAft>
                <a:spcPts val="0"/>
              </a:spcAft>
              <a:buNone/>
            </a:pPr>
            <a:r>
              <a:rPr lang="en-US" sz="1500" i="1" dirty="0">
                <a:solidFill>
                  <a:schemeClr val="dk1"/>
                </a:solidFill>
                <a:latin typeface="Times New Roman"/>
                <a:ea typeface="Times New Roman"/>
                <a:cs typeface="Times New Roman"/>
                <a:sym typeface="Times New Roman"/>
              </a:rPr>
              <a:t>Jaya Prakash Narayan College Of Engineering</a:t>
            </a:r>
            <a:endParaRPr sz="1500" i="1" dirty="0">
              <a:solidFill>
                <a:schemeClr val="dk1"/>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53CCA830-5B74-67C7-CB7D-06A9EC9D40E1}"/>
              </a:ext>
            </a:extLst>
          </p:cNvPr>
          <p:cNvPicPr>
            <a:picLocks noChangeAspect="1"/>
          </p:cNvPicPr>
          <p:nvPr/>
        </p:nvPicPr>
        <p:blipFill>
          <a:blip r:embed="rId3"/>
          <a:stretch>
            <a:fillRect/>
          </a:stretch>
        </p:blipFill>
        <p:spPr>
          <a:xfrm>
            <a:off x="1167839" y="577864"/>
            <a:ext cx="2143125" cy="1608183"/>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
          <p:cNvSpPr txBox="1">
            <a:spLocks noGrp="1"/>
          </p:cNvSpPr>
          <p:nvPr>
            <p:ph type="sldNum" idx="12"/>
          </p:nvPr>
        </p:nvSpPr>
        <p:spPr>
          <a:xfrm>
            <a:off x="9448800" y="653891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a:t>2</a:t>
            </a:fld>
            <a:endParaRPr sz="1600"/>
          </a:p>
        </p:txBody>
      </p:sp>
      <p:pic>
        <p:nvPicPr>
          <p:cNvPr id="2" name="Picture 1">
            <a:extLst>
              <a:ext uri="{FF2B5EF4-FFF2-40B4-BE49-F238E27FC236}">
                <a16:creationId xmlns:a16="http://schemas.microsoft.com/office/drawing/2014/main" id="{438B1D67-2323-AC3A-2994-04B0E377813E}"/>
              </a:ext>
            </a:extLst>
          </p:cNvPr>
          <p:cNvPicPr>
            <a:picLocks noChangeAspect="1"/>
          </p:cNvPicPr>
          <p:nvPr/>
        </p:nvPicPr>
        <p:blipFill>
          <a:blip r:embed="rId3"/>
          <a:stretch>
            <a:fillRect/>
          </a:stretch>
        </p:blipFill>
        <p:spPr>
          <a:xfrm>
            <a:off x="10839987" y="0"/>
            <a:ext cx="1352013" cy="1016899"/>
          </a:xfrm>
          <a:prstGeom prst="rect">
            <a:avLst/>
          </a:prstGeom>
        </p:spPr>
      </p:pic>
      <p:sp>
        <p:nvSpPr>
          <p:cNvPr id="3" name="TextBox 2">
            <a:extLst>
              <a:ext uri="{FF2B5EF4-FFF2-40B4-BE49-F238E27FC236}">
                <a16:creationId xmlns:a16="http://schemas.microsoft.com/office/drawing/2014/main" id="{3889DC3E-D1FD-A9E4-A37F-AEF13129AC88}"/>
              </a:ext>
            </a:extLst>
          </p:cNvPr>
          <p:cNvSpPr txBox="1"/>
          <p:nvPr/>
        </p:nvSpPr>
        <p:spPr>
          <a:xfrm>
            <a:off x="1086022" y="4374090"/>
            <a:ext cx="9321513" cy="1754326"/>
          </a:xfrm>
          <a:prstGeom prst="rect">
            <a:avLst/>
          </a:prstGeom>
          <a:noFill/>
        </p:spPr>
        <p:txBody>
          <a:bodyPr wrap="square" rtlCol="0">
            <a:spAutoFit/>
          </a:bodyPr>
          <a:lstStyle/>
          <a:p>
            <a:pPr marL="342900" indent="-342900">
              <a:buFont typeface="Wingdings" panose="05000000000000000000" pitchFamily="2" charset="2"/>
              <a:buChar char="ü"/>
            </a:pPr>
            <a:r>
              <a:rPr lang="en-US" sz="1800" b="1" i="1" dirty="0">
                <a:latin typeface="Times New Roman" panose="02020603050405020304" pitchFamily="18" charset="0"/>
                <a:cs typeface="Times New Roman" panose="02020603050405020304" pitchFamily="18" charset="0"/>
              </a:rPr>
              <a:t>RAG (Retrieval-Augmented Generation) is an AI approach that combines a large language model (LLM) with an external knowledge source.</a:t>
            </a:r>
          </a:p>
          <a:p>
            <a:endParaRPr lang="en-US" sz="1800" b="1" i="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1800" b="1" i="1" dirty="0">
                <a:latin typeface="Times New Roman" panose="02020603050405020304" pitchFamily="18" charset="0"/>
                <a:cs typeface="Times New Roman" panose="02020603050405020304" pitchFamily="18" charset="0"/>
              </a:rPr>
              <a:t>When the user asks a question, the RAG system searches a knowledge source (such as PDFs, documents, websites, or a database) to find the most relevant information before generating an answer.</a:t>
            </a:r>
            <a:endParaRPr lang="en-US" sz="1800" b="1" i="1" dirty="0">
              <a:solidFill>
                <a:schemeClr val="tx1"/>
              </a:solidFill>
              <a:latin typeface="Times New Roman" panose="02020603050405020304" pitchFamily="18" charset="0"/>
              <a:cs typeface="Times New Roman" panose="02020603050405020304" pitchFamily="18" charset="0"/>
            </a:endParaRPr>
          </a:p>
        </p:txBody>
      </p:sp>
      <p:sp>
        <p:nvSpPr>
          <p:cNvPr id="7" name="AutoShape 8" descr="RAG là gì? Tìm hiểu mô hình Retrieval-Augmented Generation trong AI">
            <a:extLst>
              <a:ext uri="{FF2B5EF4-FFF2-40B4-BE49-F238E27FC236}">
                <a16:creationId xmlns:a16="http://schemas.microsoft.com/office/drawing/2014/main" id="{33F96EC1-28EA-45B5-9E26-44271EB8EDF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7E1698FB-B4F2-4E78-9206-912D0AE4F32F}"/>
              </a:ext>
            </a:extLst>
          </p:cNvPr>
          <p:cNvPicPr>
            <a:picLocks noChangeAspect="1"/>
          </p:cNvPicPr>
          <p:nvPr/>
        </p:nvPicPr>
        <p:blipFill>
          <a:blip r:embed="rId4"/>
          <a:stretch>
            <a:fillRect/>
          </a:stretch>
        </p:blipFill>
        <p:spPr>
          <a:xfrm>
            <a:off x="1390649" y="762727"/>
            <a:ext cx="8734425" cy="34995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6" name="Google Shape;126;p4" descr="Logo, company name&#10;&#10;Description automatically generated"/>
          <p:cNvPicPr preferRelativeResize="0"/>
          <p:nvPr/>
        </p:nvPicPr>
        <p:blipFill rotWithShape="1">
          <a:blip r:embed="rId3">
            <a:alphaModFix/>
          </a:blip>
          <a:srcRect l="19500" t="15115" r="15643" b="15515"/>
          <a:stretch/>
        </p:blipFill>
        <p:spPr>
          <a:xfrm>
            <a:off x="11260899" y="0"/>
            <a:ext cx="931101" cy="1027134"/>
          </a:xfrm>
          <a:prstGeom prst="rect">
            <a:avLst/>
          </a:prstGeom>
          <a:noFill/>
          <a:ln>
            <a:noFill/>
          </a:ln>
        </p:spPr>
      </p:pic>
      <p:pic>
        <p:nvPicPr>
          <p:cNvPr id="2" name="Picture 1">
            <a:extLst>
              <a:ext uri="{FF2B5EF4-FFF2-40B4-BE49-F238E27FC236}">
                <a16:creationId xmlns:a16="http://schemas.microsoft.com/office/drawing/2014/main" id="{584331B8-B98E-808F-251C-D75BF78F9A03}"/>
              </a:ext>
            </a:extLst>
          </p:cNvPr>
          <p:cNvPicPr>
            <a:picLocks noChangeAspect="1"/>
          </p:cNvPicPr>
          <p:nvPr/>
        </p:nvPicPr>
        <p:blipFill>
          <a:blip r:embed="rId4"/>
          <a:stretch>
            <a:fillRect/>
          </a:stretch>
        </p:blipFill>
        <p:spPr>
          <a:xfrm>
            <a:off x="10839987" y="0"/>
            <a:ext cx="1352013" cy="1016899"/>
          </a:xfrm>
          <a:prstGeom prst="rect">
            <a:avLst/>
          </a:prstGeom>
        </p:spPr>
      </p:pic>
      <p:sp>
        <p:nvSpPr>
          <p:cNvPr id="3" name="AutoShape 2" descr="Top 7 RAG Use Cases and Applications to Explore in 2025">
            <a:extLst>
              <a:ext uri="{FF2B5EF4-FFF2-40B4-BE49-F238E27FC236}">
                <a16:creationId xmlns:a16="http://schemas.microsoft.com/office/drawing/2014/main" id="{C1C2F0B6-4000-4A2B-8A31-A6BD4B5DE20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0C0E1004-C54B-4ED9-B2FB-D828839BF269}"/>
              </a:ext>
            </a:extLst>
          </p:cNvPr>
          <p:cNvPicPr>
            <a:picLocks noChangeAspect="1"/>
          </p:cNvPicPr>
          <p:nvPr/>
        </p:nvPicPr>
        <p:blipFill>
          <a:blip r:embed="rId5"/>
          <a:stretch>
            <a:fillRect/>
          </a:stretch>
        </p:blipFill>
        <p:spPr>
          <a:xfrm>
            <a:off x="1928812" y="1390650"/>
            <a:ext cx="8029575" cy="42481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3386B37-1813-4D46-86A3-DBB7053491DB}"/>
              </a:ext>
            </a:extLst>
          </p:cNvPr>
          <p:cNvPicPr>
            <a:picLocks noChangeAspect="1"/>
          </p:cNvPicPr>
          <p:nvPr/>
        </p:nvPicPr>
        <p:blipFill>
          <a:blip r:embed="rId2"/>
          <a:stretch>
            <a:fillRect/>
          </a:stretch>
        </p:blipFill>
        <p:spPr>
          <a:xfrm>
            <a:off x="10839987" y="0"/>
            <a:ext cx="1352013" cy="1016899"/>
          </a:xfrm>
          <a:prstGeom prst="rect">
            <a:avLst/>
          </a:prstGeom>
        </p:spPr>
      </p:pic>
      <p:sp>
        <p:nvSpPr>
          <p:cNvPr id="3" name="Title 2">
            <a:extLst>
              <a:ext uri="{FF2B5EF4-FFF2-40B4-BE49-F238E27FC236}">
                <a16:creationId xmlns:a16="http://schemas.microsoft.com/office/drawing/2014/main" id="{073BF0C7-138F-4F7D-8A69-BB3AC557C7D2}"/>
              </a:ext>
            </a:extLst>
          </p:cNvPr>
          <p:cNvSpPr>
            <a:spLocks noGrp="1"/>
          </p:cNvSpPr>
          <p:nvPr>
            <p:ph type="title"/>
          </p:nvPr>
        </p:nvSpPr>
        <p:spPr>
          <a:xfrm>
            <a:off x="2930012" y="459407"/>
            <a:ext cx="5909187" cy="1016899"/>
          </a:xfrm>
        </p:spPr>
        <p:txBody>
          <a:bodyPr>
            <a:normAutofit fontScale="90000"/>
          </a:bodyPr>
          <a:lstStyle/>
          <a:p>
            <a:pPr algn="ctr"/>
            <a:r>
              <a:rPr lang="en-US" sz="3600" b="1" i="1" dirty="0">
                <a:latin typeface="Times New Roman" panose="02020603050405020304" pitchFamily="18" charset="0"/>
                <a:cs typeface="Times New Roman" panose="02020603050405020304" pitchFamily="18" charset="0"/>
              </a:rPr>
              <a:t>CUSTOMERS SUPPORT CHATBOTS</a:t>
            </a:r>
            <a:endParaRPr lang="en-IN" sz="3600" b="1" i="1" dirty="0">
              <a:latin typeface="Times New Roman" panose="02020603050405020304" pitchFamily="18" charset="0"/>
              <a:cs typeface="Times New Roman" panose="02020603050405020304" pitchFamily="18" charset="0"/>
            </a:endParaRPr>
          </a:p>
        </p:txBody>
      </p:sp>
      <p:pic>
        <p:nvPicPr>
          <p:cNvPr id="15" name="Picture 2" descr="Customer Support Chatbots">
            <a:extLst>
              <a:ext uri="{FF2B5EF4-FFF2-40B4-BE49-F238E27FC236}">
                <a16:creationId xmlns:a16="http://schemas.microsoft.com/office/drawing/2014/main" id="{237A355F-858D-438C-B7E2-AB754BDF8D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2051" y="1935714"/>
            <a:ext cx="6154993" cy="4229111"/>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5">
            <a:extLst>
              <a:ext uri="{FF2B5EF4-FFF2-40B4-BE49-F238E27FC236}">
                <a16:creationId xmlns:a16="http://schemas.microsoft.com/office/drawing/2014/main" id="{9E6FBD65-90D0-4413-A28E-12DA81369444}"/>
              </a:ext>
            </a:extLst>
          </p:cNvPr>
          <p:cNvSpPr>
            <a:spLocks noGrp="1" noChangeArrowheads="1"/>
          </p:cNvSpPr>
          <p:nvPr>
            <p:ph type="body" idx="1"/>
          </p:nvPr>
        </p:nvSpPr>
        <p:spPr bwMode="auto">
          <a:xfrm>
            <a:off x="7374195" y="1720271"/>
            <a:ext cx="3224980" cy="3570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kumimoji="0" lang="en-US" altLang="en-US" sz="20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Instant Responses </a:t>
            </a:r>
          </a:p>
          <a:p>
            <a:pPr marL="342900" marR="0" lvl="0" indent="-342900" algn="l"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kumimoji="0" lang="en-US" altLang="en-US" sz="20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Order Tracking </a:t>
            </a:r>
          </a:p>
          <a:p>
            <a:pPr marL="342900" marR="0" lvl="0" indent="-342900" algn="l"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kumimoji="0" lang="en-US" altLang="en-US" sz="20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Issue Resolution </a:t>
            </a:r>
          </a:p>
          <a:p>
            <a:pPr marL="342900" marR="0" lvl="0" indent="-342900" algn="l"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kumimoji="0" lang="en-US" altLang="en-US" sz="20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Ticket Creation </a:t>
            </a:r>
          </a:p>
          <a:p>
            <a:pPr marL="342900" marR="0" lvl="0" indent="-342900" algn="l"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kumimoji="0" lang="en-US" altLang="en-US" sz="20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24/7 Customer Support</a:t>
            </a:r>
            <a:r>
              <a:rPr kumimoji="0" lang="en-US" altLang="en-US" sz="24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195042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132CE43-12C6-4921-84A9-962E2050BA59}"/>
              </a:ext>
            </a:extLst>
          </p:cNvPr>
          <p:cNvPicPr>
            <a:picLocks noChangeAspect="1"/>
          </p:cNvPicPr>
          <p:nvPr/>
        </p:nvPicPr>
        <p:blipFill>
          <a:blip r:embed="rId2"/>
          <a:stretch>
            <a:fillRect/>
          </a:stretch>
        </p:blipFill>
        <p:spPr>
          <a:xfrm>
            <a:off x="1657351" y="1133475"/>
            <a:ext cx="8020050" cy="4219576"/>
          </a:xfrm>
          <a:prstGeom prst="rect">
            <a:avLst/>
          </a:prstGeom>
        </p:spPr>
      </p:pic>
      <p:pic>
        <p:nvPicPr>
          <p:cNvPr id="7" name="Picture 6">
            <a:extLst>
              <a:ext uri="{FF2B5EF4-FFF2-40B4-BE49-F238E27FC236}">
                <a16:creationId xmlns:a16="http://schemas.microsoft.com/office/drawing/2014/main" id="{25CA3D5F-5AA0-4DBB-8079-A7522A51489E}"/>
              </a:ext>
            </a:extLst>
          </p:cNvPr>
          <p:cNvPicPr>
            <a:picLocks noChangeAspect="1"/>
          </p:cNvPicPr>
          <p:nvPr/>
        </p:nvPicPr>
        <p:blipFill>
          <a:blip r:embed="rId3"/>
          <a:stretch>
            <a:fillRect/>
          </a:stretch>
        </p:blipFill>
        <p:spPr>
          <a:xfrm>
            <a:off x="10839987" y="0"/>
            <a:ext cx="1352013" cy="1016899"/>
          </a:xfrm>
          <a:prstGeom prst="rect">
            <a:avLst/>
          </a:prstGeom>
        </p:spPr>
      </p:pic>
    </p:spTree>
    <p:extLst>
      <p:ext uri="{BB962C8B-B14F-4D97-AF65-F5344CB8AC3E}">
        <p14:creationId xmlns:p14="http://schemas.microsoft.com/office/powerpoint/2010/main" val="1416568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7CC479-D669-4716-89E6-03B3708C217C}"/>
              </a:ext>
            </a:extLst>
          </p:cNvPr>
          <p:cNvPicPr>
            <a:picLocks noChangeAspect="1"/>
          </p:cNvPicPr>
          <p:nvPr/>
        </p:nvPicPr>
        <p:blipFill>
          <a:blip r:embed="rId2"/>
          <a:stretch>
            <a:fillRect/>
          </a:stretch>
        </p:blipFill>
        <p:spPr>
          <a:xfrm>
            <a:off x="10839987" y="0"/>
            <a:ext cx="1352013" cy="1016899"/>
          </a:xfrm>
          <a:prstGeom prst="rect">
            <a:avLst/>
          </a:prstGeom>
        </p:spPr>
      </p:pic>
      <p:sp>
        <p:nvSpPr>
          <p:cNvPr id="3" name="Title 2">
            <a:extLst>
              <a:ext uri="{FF2B5EF4-FFF2-40B4-BE49-F238E27FC236}">
                <a16:creationId xmlns:a16="http://schemas.microsoft.com/office/drawing/2014/main" id="{4055C8FA-1E9A-448B-8D27-13A43FF7A70B}"/>
              </a:ext>
            </a:extLst>
          </p:cNvPr>
          <p:cNvSpPr>
            <a:spLocks noGrp="1"/>
          </p:cNvSpPr>
          <p:nvPr>
            <p:ph type="title"/>
          </p:nvPr>
        </p:nvSpPr>
        <p:spPr/>
        <p:txBody>
          <a:bodyPr>
            <a:normAutofit/>
          </a:bodyPr>
          <a:lstStyle/>
          <a:p>
            <a:pPr algn="ctr"/>
            <a:r>
              <a:rPr lang="en-US" sz="3600" b="1" i="1" dirty="0">
                <a:latin typeface="Times New Roman" panose="02020603050405020304" pitchFamily="18" charset="0"/>
                <a:cs typeface="Times New Roman" panose="02020603050405020304" pitchFamily="18" charset="0"/>
              </a:rPr>
              <a:t>HOW RAG WORKS</a:t>
            </a:r>
            <a:endParaRPr lang="en-IN" sz="3600" b="1" i="1"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026302E8-9414-49DE-8C0F-22CAAF2CE06B}"/>
              </a:ext>
            </a:extLst>
          </p:cNvPr>
          <p:cNvSpPr>
            <a:spLocks noGrp="1"/>
          </p:cNvSpPr>
          <p:nvPr>
            <p:ph type="body" idx="1"/>
          </p:nvPr>
        </p:nvSpPr>
        <p:spPr>
          <a:xfrm>
            <a:off x="838200" y="4333875"/>
            <a:ext cx="10515600" cy="1843088"/>
          </a:xfrm>
        </p:spPr>
        <p:txBody>
          <a:bodyPr>
            <a:normAutofit/>
          </a:bodyPr>
          <a:lstStyle/>
          <a:p>
            <a:r>
              <a:rPr lang="en-US" sz="2400" i="1" dirty="0">
                <a:latin typeface="Times New Roman" panose="02020603050405020304" pitchFamily="18" charset="0"/>
                <a:cs typeface="Times New Roman" panose="02020603050405020304" pitchFamily="18" charset="0"/>
              </a:rPr>
              <a:t>First, the user asks a question. Then RAG searches for relevant information from its knowledge source. After that, the retrieved information is added as context. The AI model uses this context to generate the answer. Finally, it provides a more accurate and relevant response to the user.</a:t>
            </a:r>
            <a:endParaRPr lang="en-IN" sz="2400" i="1" dirty="0">
              <a:latin typeface="Times New Roman" panose="02020603050405020304" pitchFamily="18" charset="0"/>
              <a:cs typeface="Times New Roman" panose="02020603050405020304" pitchFamily="18" charset="0"/>
            </a:endParaRPr>
          </a:p>
          <a:p>
            <a:endParaRPr lang="en-IN" dirty="0"/>
          </a:p>
        </p:txBody>
      </p:sp>
      <p:pic>
        <p:nvPicPr>
          <p:cNvPr id="6" name="Picture 5">
            <a:extLst>
              <a:ext uri="{FF2B5EF4-FFF2-40B4-BE49-F238E27FC236}">
                <a16:creationId xmlns:a16="http://schemas.microsoft.com/office/drawing/2014/main" id="{AB111194-0695-4EF9-A96B-1BFEB38AA6A5}"/>
              </a:ext>
            </a:extLst>
          </p:cNvPr>
          <p:cNvPicPr>
            <a:picLocks noChangeAspect="1"/>
          </p:cNvPicPr>
          <p:nvPr/>
        </p:nvPicPr>
        <p:blipFill>
          <a:blip r:embed="rId3"/>
          <a:stretch>
            <a:fillRect/>
          </a:stretch>
        </p:blipFill>
        <p:spPr>
          <a:xfrm>
            <a:off x="1695450" y="1690688"/>
            <a:ext cx="8239125" cy="2671763"/>
          </a:xfrm>
          <a:prstGeom prst="rect">
            <a:avLst/>
          </a:prstGeom>
        </p:spPr>
      </p:pic>
    </p:spTree>
    <p:extLst>
      <p:ext uri="{BB962C8B-B14F-4D97-AF65-F5344CB8AC3E}">
        <p14:creationId xmlns:p14="http://schemas.microsoft.com/office/powerpoint/2010/main" val="3912635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6FB8E0F-A2C9-4C7D-B9FA-2260322D3C8B}"/>
              </a:ext>
            </a:extLst>
          </p:cNvPr>
          <p:cNvPicPr>
            <a:picLocks noChangeAspect="1"/>
          </p:cNvPicPr>
          <p:nvPr/>
        </p:nvPicPr>
        <p:blipFill>
          <a:blip r:embed="rId2"/>
          <a:stretch>
            <a:fillRect/>
          </a:stretch>
        </p:blipFill>
        <p:spPr>
          <a:xfrm>
            <a:off x="10839987" y="0"/>
            <a:ext cx="1352013" cy="1016899"/>
          </a:xfrm>
          <a:prstGeom prst="rect">
            <a:avLst/>
          </a:prstGeom>
        </p:spPr>
      </p:pic>
      <p:sp>
        <p:nvSpPr>
          <p:cNvPr id="5" name="Title 4">
            <a:extLst>
              <a:ext uri="{FF2B5EF4-FFF2-40B4-BE49-F238E27FC236}">
                <a16:creationId xmlns:a16="http://schemas.microsoft.com/office/drawing/2014/main" id="{1B3B3805-6821-4D91-8342-DEA5F51EC282}"/>
              </a:ext>
            </a:extLst>
          </p:cNvPr>
          <p:cNvSpPr>
            <a:spLocks noGrp="1"/>
          </p:cNvSpPr>
          <p:nvPr>
            <p:ph type="title"/>
          </p:nvPr>
        </p:nvSpPr>
        <p:spPr>
          <a:xfrm>
            <a:off x="2257424" y="885826"/>
            <a:ext cx="7172325" cy="323850"/>
          </a:xfrm>
        </p:spPr>
        <p:txBody>
          <a:bodyPr>
            <a:normAutofit fontScale="90000"/>
          </a:bodyPr>
          <a:lstStyle/>
          <a:p>
            <a:pPr algn="ctr"/>
            <a:r>
              <a:rPr lang="en-US" sz="3200" b="1" i="1" dirty="0">
                <a:latin typeface="Times New Roman" panose="02020603050405020304" pitchFamily="18" charset="0"/>
                <a:cs typeface="Times New Roman" panose="02020603050405020304" pitchFamily="18" charset="0"/>
              </a:rPr>
              <a:t>ERROR DECTECTION ASSESSMENT</a:t>
            </a:r>
            <a:endParaRPr lang="en-IN" sz="3200" b="1" i="1" dirty="0">
              <a:latin typeface="Times New Roman" panose="02020603050405020304" pitchFamily="18" charset="0"/>
              <a:cs typeface="Times New Roman" panose="02020603050405020304" pitchFamily="18" charset="0"/>
            </a:endParaRPr>
          </a:p>
        </p:txBody>
      </p:sp>
      <p:sp>
        <p:nvSpPr>
          <p:cNvPr id="12" name="Rectangle 1">
            <a:extLst>
              <a:ext uri="{FF2B5EF4-FFF2-40B4-BE49-F238E27FC236}">
                <a16:creationId xmlns:a16="http://schemas.microsoft.com/office/drawing/2014/main" id="{81741432-F80C-4159-B367-06245460AFD0}"/>
              </a:ext>
            </a:extLst>
          </p:cNvPr>
          <p:cNvSpPr>
            <a:spLocks noGrp="1" noChangeArrowheads="1"/>
          </p:cNvSpPr>
          <p:nvPr>
            <p:ph type="body" idx="1"/>
          </p:nvPr>
        </p:nvSpPr>
        <p:spPr bwMode="auto">
          <a:xfrm>
            <a:off x="7437438" y="1392912"/>
            <a:ext cx="3917950"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457200" algn="l"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endParaRPr kumimoji="0" lang="en-US" altLang="en-US" sz="20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indent="-457200" algn="l"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kumimoji="0" lang="en-US" altLang="en-US" sz="20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Finds errors quickly </a:t>
            </a:r>
          </a:p>
          <a:p>
            <a:pPr marR="0" lvl="0" indent="-457200" algn="l"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kumimoji="0" lang="en-US" altLang="en-US" sz="20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Checks system activities </a:t>
            </a:r>
          </a:p>
          <a:p>
            <a:pPr marR="0" lvl="0" indent="-457200" algn="l"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kumimoji="0" lang="en-US" altLang="en-US" sz="20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Identifies unusual behavior </a:t>
            </a:r>
          </a:p>
          <a:p>
            <a:pPr marR="0" lvl="0" indent="-457200" algn="l"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kumimoji="0" lang="en-US" altLang="en-US" sz="20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Measures error severity </a:t>
            </a:r>
          </a:p>
          <a:p>
            <a:pPr marR="0" lvl="0" indent="-457200" algn="l"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kumimoji="0" lang="en-US" altLang="en-US" sz="20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Shows error alerts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 Placeholder 13">
            <a:extLst>
              <a:ext uri="{FF2B5EF4-FFF2-40B4-BE49-F238E27FC236}">
                <a16:creationId xmlns:a16="http://schemas.microsoft.com/office/drawing/2014/main" id="{0EB0C18E-D1BD-4609-A9D1-6BCEAB683AF3}"/>
              </a:ext>
            </a:extLst>
          </p:cNvPr>
          <p:cNvSpPr>
            <a:spLocks noGrp="1"/>
          </p:cNvSpPr>
          <p:nvPr>
            <p:ph type="body" idx="2"/>
          </p:nvPr>
        </p:nvSpPr>
        <p:spPr/>
        <p:txBody>
          <a:bodyPr/>
          <a:lstStyle/>
          <a:p>
            <a:endParaRPr lang="en-IN"/>
          </a:p>
        </p:txBody>
      </p:sp>
      <p:pic>
        <p:nvPicPr>
          <p:cNvPr id="9" name="Picture 8">
            <a:extLst>
              <a:ext uri="{FF2B5EF4-FFF2-40B4-BE49-F238E27FC236}">
                <a16:creationId xmlns:a16="http://schemas.microsoft.com/office/drawing/2014/main" id="{F5BC5678-4D46-4B54-82DA-9EE71E99FB49}"/>
              </a:ext>
            </a:extLst>
          </p:cNvPr>
          <p:cNvPicPr>
            <a:picLocks noChangeAspect="1"/>
          </p:cNvPicPr>
          <p:nvPr/>
        </p:nvPicPr>
        <p:blipFill>
          <a:blip r:embed="rId3"/>
          <a:stretch>
            <a:fillRect/>
          </a:stretch>
        </p:blipFill>
        <p:spPr>
          <a:xfrm>
            <a:off x="952501" y="1825625"/>
            <a:ext cx="6372224" cy="4051300"/>
          </a:xfrm>
          <a:prstGeom prst="rect">
            <a:avLst/>
          </a:prstGeom>
        </p:spPr>
      </p:pic>
    </p:spTree>
    <p:extLst>
      <p:ext uri="{BB962C8B-B14F-4D97-AF65-F5344CB8AC3E}">
        <p14:creationId xmlns:p14="http://schemas.microsoft.com/office/powerpoint/2010/main" val="2303527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2"/>
          <p:cNvSpPr txBox="1">
            <a:spLocks noGrp="1"/>
          </p:cNvSpPr>
          <p:nvPr>
            <p:ph type="title"/>
          </p:nvPr>
        </p:nvSpPr>
        <p:spPr>
          <a:xfrm>
            <a:off x="4504707" y="652560"/>
            <a:ext cx="2189639" cy="8001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2900"/>
              <a:buFont typeface="Times New Roman"/>
              <a:buNone/>
            </a:pPr>
            <a:r>
              <a:rPr lang="en-US" b="1" i="1" dirty="0">
                <a:latin typeface="Times New Roman"/>
                <a:ea typeface="Times New Roman"/>
                <a:cs typeface="Times New Roman"/>
                <a:sym typeface="Times New Roman"/>
              </a:rPr>
              <a:t>Advantages</a:t>
            </a:r>
            <a:endParaRPr b="1" i="1" dirty="0">
              <a:latin typeface="Times New Roman"/>
              <a:ea typeface="Times New Roman"/>
              <a:cs typeface="Times New Roman"/>
              <a:sym typeface="Times New Roman"/>
            </a:endParaRPr>
          </a:p>
        </p:txBody>
      </p:sp>
      <p:sp>
        <p:nvSpPr>
          <p:cNvPr id="192" name="Google Shape;192;p12"/>
          <p:cNvSpPr txBox="1">
            <a:spLocks noGrp="1"/>
          </p:cNvSpPr>
          <p:nvPr>
            <p:ph type="body" idx="1"/>
          </p:nvPr>
        </p:nvSpPr>
        <p:spPr>
          <a:xfrm>
            <a:off x="1608014" y="1628775"/>
            <a:ext cx="9083932" cy="4576665"/>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1000"/>
              </a:spcBef>
              <a:spcAft>
                <a:spcPts val="0"/>
              </a:spcAft>
              <a:buClr>
                <a:srgbClr val="000000"/>
              </a:buClr>
              <a:buSzPts val="2400"/>
              <a:buFont typeface="Noto Sans Symbols"/>
              <a:buChar char="✔"/>
            </a:pPr>
            <a:endParaRPr lang="en-US" sz="2400" i="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0" lvl="0" indent="0" algn="l" rtl="0">
              <a:lnSpc>
                <a:spcPct val="150000"/>
              </a:lnSpc>
              <a:spcBef>
                <a:spcPts val="1000"/>
              </a:spcBef>
              <a:spcAft>
                <a:spcPts val="0"/>
              </a:spcAft>
              <a:buClr>
                <a:srgbClr val="000000"/>
              </a:buClr>
              <a:buSzPts val="2400"/>
            </a:pPr>
            <a:br>
              <a:rPr lang="en-US" sz="2400" dirty="0"/>
            </a:br>
            <a:endParaRPr sz="1800" b="1" i="1" dirty="0">
              <a:latin typeface="Times New Roman" panose="02020603050405020304" pitchFamily="18" charset="0"/>
              <a:ea typeface="Times New Roman"/>
              <a:cs typeface="Times New Roman" panose="02020603050405020304" pitchFamily="18" charset="0"/>
              <a:sym typeface="Times New Roman"/>
            </a:endParaRPr>
          </a:p>
        </p:txBody>
      </p:sp>
      <p:pic>
        <p:nvPicPr>
          <p:cNvPr id="193" name="Google Shape;193;p12" descr="Logo, company name&#10;&#10;Description automatically generated"/>
          <p:cNvPicPr preferRelativeResize="0"/>
          <p:nvPr/>
        </p:nvPicPr>
        <p:blipFill rotWithShape="1">
          <a:blip r:embed="rId3">
            <a:alphaModFix/>
          </a:blip>
          <a:srcRect l="19500" t="15115" r="15643" b="15515"/>
          <a:stretch/>
        </p:blipFill>
        <p:spPr>
          <a:xfrm>
            <a:off x="11260899" y="0"/>
            <a:ext cx="931101" cy="1027134"/>
          </a:xfrm>
          <a:prstGeom prst="rect">
            <a:avLst/>
          </a:prstGeom>
          <a:noFill/>
          <a:ln>
            <a:noFill/>
          </a:ln>
        </p:spPr>
      </p:pic>
      <p:pic>
        <p:nvPicPr>
          <p:cNvPr id="2" name="Picture 1">
            <a:extLst>
              <a:ext uri="{FF2B5EF4-FFF2-40B4-BE49-F238E27FC236}">
                <a16:creationId xmlns:a16="http://schemas.microsoft.com/office/drawing/2014/main" id="{5C612DFE-100B-B355-3CE9-72F21E38C546}"/>
              </a:ext>
            </a:extLst>
          </p:cNvPr>
          <p:cNvPicPr>
            <a:picLocks noChangeAspect="1"/>
          </p:cNvPicPr>
          <p:nvPr/>
        </p:nvPicPr>
        <p:blipFill>
          <a:blip r:embed="rId4"/>
          <a:stretch>
            <a:fillRect/>
          </a:stretch>
        </p:blipFill>
        <p:spPr>
          <a:xfrm>
            <a:off x="10839987" y="0"/>
            <a:ext cx="1352013" cy="1016899"/>
          </a:xfrm>
          <a:prstGeom prst="rect">
            <a:avLst/>
          </a:prstGeom>
        </p:spPr>
      </p:pic>
      <p:pic>
        <p:nvPicPr>
          <p:cNvPr id="4" name="Picture 3">
            <a:extLst>
              <a:ext uri="{FF2B5EF4-FFF2-40B4-BE49-F238E27FC236}">
                <a16:creationId xmlns:a16="http://schemas.microsoft.com/office/drawing/2014/main" id="{CAAD0F47-57C9-05A2-888C-9AAD8C01C9C9}"/>
              </a:ext>
            </a:extLst>
          </p:cNvPr>
          <p:cNvPicPr>
            <a:picLocks noChangeAspect="1"/>
          </p:cNvPicPr>
          <p:nvPr/>
        </p:nvPicPr>
        <p:blipFill>
          <a:blip r:embed="rId5"/>
          <a:stretch>
            <a:fillRect/>
          </a:stretch>
        </p:blipFill>
        <p:spPr>
          <a:xfrm>
            <a:off x="8001000" y="1452660"/>
            <a:ext cx="2690946" cy="4343400"/>
          </a:xfrm>
          <a:prstGeom prst="rect">
            <a:avLst/>
          </a:prstGeom>
        </p:spPr>
      </p:pic>
      <p:sp>
        <p:nvSpPr>
          <p:cNvPr id="8" name="TextBox 7">
            <a:extLst>
              <a:ext uri="{FF2B5EF4-FFF2-40B4-BE49-F238E27FC236}">
                <a16:creationId xmlns:a16="http://schemas.microsoft.com/office/drawing/2014/main" id="{AE48B1C3-63C6-4F51-BEF8-B5762760ABFB}"/>
              </a:ext>
            </a:extLst>
          </p:cNvPr>
          <p:cNvSpPr txBox="1"/>
          <p:nvPr/>
        </p:nvSpPr>
        <p:spPr>
          <a:xfrm>
            <a:off x="2200274" y="2228850"/>
            <a:ext cx="6315075" cy="498663"/>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IN" sz="2000" i="1" dirty="0">
                <a:latin typeface="Times New Roman" panose="02020603050405020304" pitchFamily="18" charset="0"/>
                <a:cs typeface="Times New Roman" panose="02020603050405020304" pitchFamily="18" charset="0"/>
              </a:rPr>
              <a:t>More Accurate Responses</a:t>
            </a:r>
          </a:p>
        </p:txBody>
      </p:sp>
      <p:sp>
        <p:nvSpPr>
          <p:cNvPr id="10" name="TextBox 9">
            <a:extLst>
              <a:ext uri="{FF2B5EF4-FFF2-40B4-BE49-F238E27FC236}">
                <a16:creationId xmlns:a16="http://schemas.microsoft.com/office/drawing/2014/main" id="{A9D7BC74-1A37-4337-8527-05F1F7BF2054}"/>
              </a:ext>
            </a:extLst>
          </p:cNvPr>
          <p:cNvSpPr txBox="1"/>
          <p:nvPr/>
        </p:nvSpPr>
        <p:spPr>
          <a:xfrm>
            <a:off x="2200274" y="2903628"/>
            <a:ext cx="6943726" cy="498663"/>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IN" sz="2000" i="1" dirty="0">
                <a:latin typeface="Times New Roman" panose="02020603050405020304" pitchFamily="18" charset="0"/>
                <a:cs typeface="Times New Roman" panose="02020603050405020304" pitchFamily="18" charset="0"/>
              </a:rPr>
              <a:t>Up-to-date information</a:t>
            </a:r>
          </a:p>
        </p:txBody>
      </p:sp>
      <p:sp>
        <p:nvSpPr>
          <p:cNvPr id="12" name="TextBox 11">
            <a:extLst>
              <a:ext uri="{FF2B5EF4-FFF2-40B4-BE49-F238E27FC236}">
                <a16:creationId xmlns:a16="http://schemas.microsoft.com/office/drawing/2014/main" id="{D8AAAE41-D79F-48B1-B969-58FDF05D91EF}"/>
              </a:ext>
            </a:extLst>
          </p:cNvPr>
          <p:cNvSpPr txBox="1"/>
          <p:nvPr/>
        </p:nvSpPr>
        <p:spPr>
          <a:xfrm>
            <a:off x="2200274" y="3624360"/>
            <a:ext cx="6943726" cy="498663"/>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IN" sz="1800" b="1" i="1"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Easy to update</a:t>
            </a:r>
          </a:p>
        </p:txBody>
      </p:sp>
      <p:sp>
        <p:nvSpPr>
          <p:cNvPr id="14" name="TextBox 13">
            <a:extLst>
              <a:ext uri="{FF2B5EF4-FFF2-40B4-BE49-F238E27FC236}">
                <a16:creationId xmlns:a16="http://schemas.microsoft.com/office/drawing/2014/main" id="{FE8DC849-C5AB-4842-9BC8-A924BA144278}"/>
              </a:ext>
            </a:extLst>
          </p:cNvPr>
          <p:cNvSpPr txBox="1"/>
          <p:nvPr/>
        </p:nvSpPr>
        <p:spPr>
          <a:xfrm>
            <a:off x="2200274" y="4369642"/>
            <a:ext cx="6724650" cy="498663"/>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IN" sz="2000" i="1" dirty="0">
                <a:latin typeface="Times New Roman" panose="02020603050405020304" pitchFamily="18" charset="0"/>
                <a:cs typeface="Times New Roman" panose="02020603050405020304" pitchFamily="18" charset="0"/>
              </a:rPr>
              <a:t>Saves time and cost </a:t>
            </a:r>
          </a:p>
        </p:txBody>
      </p:sp>
      <p:sp>
        <p:nvSpPr>
          <p:cNvPr id="16" name="TextBox 15">
            <a:extLst>
              <a:ext uri="{FF2B5EF4-FFF2-40B4-BE49-F238E27FC236}">
                <a16:creationId xmlns:a16="http://schemas.microsoft.com/office/drawing/2014/main" id="{86D028D9-4D03-44B4-BF10-6EC2699BAA45}"/>
              </a:ext>
            </a:extLst>
          </p:cNvPr>
          <p:cNvSpPr txBox="1"/>
          <p:nvPr/>
        </p:nvSpPr>
        <p:spPr>
          <a:xfrm>
            <a:off x="2200274" y="5114925"/>
            <a:ext cx="6343649" cy="400110"/>
          </a:xfrm>
          <a:prstGeom prst="rect">
            <a:avLst/>
          </a:prstGeom>
          <a:noFill/>
        </p:spPr>
        <p:txBody>
          <a:bodyPr wrap="square">
            <a:spAutoFit/>
          </a:bodyPr>
          <a:lstStyle/>
          <a:p>
            <a:pPr marL="342900" indent="-342900">
              <a:buFont typeface="Wingdings" panose="05000000000000000000" pitchFamily="2" charset="2"/>
              <a:buChar char="ü"/>
            </a:pPr>
            <a:r>
              <a:rPr lang="en-IN" sz="2000" i="1" dirty="0">
                <a:latin typeface="Times New Roman" panose="02020603050405020304" pitchFamily="18" charset="0"/>
                <a:cs typeface="Times New Roman" panose="02020603050405020304" pitchFamily="18" charset="0"/>
              </a:rPr>
              <a:t>Up-to-date information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pic>
        <p:nvPicPr>
          <p:cNvPr id="2" name="Picture 1">
            <a:extLst>
              <a:ext uri="{FF2B5EF4-FFF2-40B4-BE49-F238E27FC236}">
                <a16:creationId xmlns:a16="http://schemas.microsoft.com/office/drawing/2014/main" id="{26046E23-E161-F709-88A4-9DB3D97188DC}"/>
              </a:ext>
            </a:extLst>
          </p:cNvPr>
          <p:cNvPicPr>
            <a:picLocks noChangeAspect="1"/>
          </p:cNvPicPr>
          <p:nvPr/>
        </p:nvPicPr>
        <p:blipFill>
          <a:blip r:embed="rId3"/>
          <a:stretch>
            <a:fillRect/>
          </a:stretch>
        </p:blipFill>
        <p:spPr>
          <a:xfrm>
            <a:off x="10839987" y="0"/>
            <a:ext cx="1352013" cy="1016899"/>
          </a:xfrm>
          <a:prstGeom prst="rect">
            <a:avLst/>
          </a:prstGeom>
        </p:spPr>
      </p:pic>
      <p:sp>
        <p:nvSpPr>
          <p:cNvPr id="3" name="Google Shape;191;p12">
            <a:extLst>
              <a:ext uri="{FF2B5EF4-FFF2-40B4-BE49-F238E27FC236}">
                <a16:creationId xmlns:a16="http://schemas.microsoft.com/office/drawing/2014/main" id="{F22AB8EF-0065-62A4-DB46-402A27CF02FC}"/>
              </a:ext>
            </a:extLst>
          </p:cNvPr>
          <p:cNvSpPr txBox="1">
            <a:spLocks noGrp="1"/>
          </p:cNvSpPr>
          <p:nvPr>
            <p:ph type="title"/>
          </p:nvPr>
        </p:nvSpPr>
        <p:spPr/>
        <p:txBody>
          <a:bodyPr>
            <a:normAutofit/>
          </a:bodyPr>
          <a:lstStyle/>
          <a:p>
            <a:pPr lvl="0" algn="ctr"/>
            <a:r>
              <a:rPr lang="en-US" sz="2800" b="1" i="1" dirty="0">
                <a:latin typeface="Times New Roman" panose="02020603050405020304" pitchFamily="18" charset="0"/>
                <a:cs typeface="Times New Roman" panose="02020603050405020304" pitchFamily="18" charset="0"/>
                <a:sym typeface="Times New Roman"/>
              </a:rPr>
              <a:t>Disadvantages</a:t>
            </a:r>
          </a:p>
        </p:txBody>
      </p:sp>
      <p:sp>
        <p:nvSpPr>
          <p:cNvPr id="17" name="Text Placeholder 16">
            <a:extLst>
              <a:ext uri="{FF2B5EF4-FFF2-40B4-BE49-F238E27FC236}">
                <a16:creationId xmlns:a16="http://schemas.microsoft.com/office/drawing/2014/main" id="{6BA7A3D6-7333-4546-989B-EB986FB14074}"/>
              </a:ext>
            </a:extLst>
          </p:cNvPr>
          <p:cNvSpPr>
            <a:spLocks noGrp="1"/>
          </p:cNvSpPr>
          <p:nvPr>
            <p:ph type="body" idx="1"/>
          </p:nvPr>
        </p:nvSpPr>
        <p:spPr>
          <a:xfrm>
            <a:off x="1619250" y="1825625"/>
            <a:ext cx="9096375" cy="4351338"/>
          </a:xfrm>
        </p:spPr>
        <p:txBody>
          <a:bodyPr>
            <a:normAutofit/>
          </a:bodyPr>
          <a:lstStyle/>
          <a:p>
            <a:pPr>
              <a:lnSpc>
                <a:spcPct val="150000"/>
              </a:lnSpc>
              <a:buFont typeface="Wingdings" panose="05000000000000000000" pitchFamily="2" charset="2"/>
              <a:buChar char="ü"/>
            </a:pPr>
            <a:r>
              <a:rPr lang="en-IN" sz="2000" i="1" dirty="0">
                <a:latin typeface="Times New Roman" panose="02020603050405020304" pitchFamily="18" charset="0"/>
                <a:cs typeface="Times New Roman" panose="02020603050405020304" pitchFamily="18" charset="0"/>
              </a:rPr>
              <a:t>Depends on knowledge base</a:t>
            </a:r>
          </a:p>
          <a:p>
            <a:pPr>
              <a:lnSpc>
                <a:spcPct val="150000"/>
              </a:lnSpc>
              <a:buFont typeface="Wingdings" panose="05000000000000000000" pitchFamily="2" charset="2"/>
              <a:buChar char="ü"/>
            </a:pPr>
            <a:r>
              <a:rPr lang="en-IN" sz="2000" i="1" dirty="0">
                <a:latin typeface="Times New Roman" panose="02020603050405020304" pitchFamily="18" charset="0"/>
                <a:cs typeface="Times New Roman" panose="02020603050405020304" pitchFamily="18" charset="0"/>
              </a:rPr>
              <a:t>Slower responses</a:t>
            </a:r>
          </a:p>
          <a:p>
            <a:pPr>
              <a:lnSpc>
                <a:spcPct val="150000"/>
              </a:lnSpc>
              <a:buFont typeface="Wingdings" panose="05000000000000000000" pitchFamily="2" charset="2"/>
              <a:buChar char="ü"/>
            </a:pPr>
            <a:r>
              <a:rPr lang="en-IN" sz="2000" i="1" dirty="0">
                <a:latin typeface="Times New Roman" panose="02020603050405020304" pitchFamily="18" charset="0"/>
                <a:cs typeface="Times New Roman" panose="02020603050405020304" pitchFamily="18" charset="0"/>
              </a:rPr>
              <a:t>Needs good data</a:t>
            </a:r>
          </a:p>
          <a:p>
            <a:pPr>
              <a:lnSpc>
                <a:spcPct val="150000"/>
              </a:lnSpc>
              <a:buFont typeface="Wingdings" panose="05000000000000000000" pitchFamily="2" charset="2"/>
              <a:buChar char="ü"/>
            </a:pPr>
            <a:r>
              <a:rPr lang="en-IN" sz="2000" i="1" dirty="0">
                <a:latin typeface="Times New Roman" panose="02020603050405020304" pitchFamily="18" charset="0"/>
                <a:cs typeface="Times New Roman" panose="02020603050405020304" pitchFamily="18" charset="0"/>
              </a:rPr>
              <a:t>More complex</a:t>
            </a:r>
          </a:p>
          <a:p>
            <a:pPr>
              <a:lnSpc>
                <a:spcPct val="150000"/>
              </a:lnSpc>
              <a:buFont typeface="Wingdings" panose="05000000000000000000" pitchFamily="2" charset="2"/>
              <a:buChar char="ü"/>
            </a:pPr>
            <a:r>
              <a:rPr lang="en-IN" sz="2000" i="1" dirty="0">
                <a:latin typeface="Times New Roman" panose="02020603050405020304" pitchFamily="18" charset="0"/>
                <a:cs typeface="Times New Roman" panose="02020603050405020304" pitchFamily="18" charset="0"/>
              </a:rPr>
              <a:t>Security issues</a:t>
            </a:r>
          </a:p>
        </p:txBody>
      </p:sp>
      <p:pic>
        <p:nvPicPr>
          <p:cNvPr id="8" name="Picture 7">
            <a:extLst>
              <a:ext uri="{FF2B5EF4-FFF2-40B4-BE49-F238E27FC236}">
                <a16:creationId xmlns:a16="http://schemas.microsoft.com/office/drawing/2014/main" id="{2F567FAC-F604-D69F-C82B-0B644400A8C8}"/>
              </a:ext>
            </a:extLst>
          </p:cNvPr>
          <p:cNvPicPr>
            <a:picLocks noChangeAspect="1"/>
          </p:cNvPicPr>
          <p:nvPr/>
        </p:nvPicPr>
        <p:blipFill>
          <a:blip r:embed="rId4"/>
          <a:stretch>
            <a:fillRect/>
          </a:stretch>
        </p:blipFill>
        <p:spPr>
          <a:xfrm>
            <a:off x="8148955" y="1471662"/>
            <a:ext cx="2143125" cy="4343400"/>
          </a:xfrm>
          <a:prstGeom prst="rect">
            <a:avLst/>
          </a:prstGeom>
        </p:spPr>
      </p:pic>
      <p:sp>
        <p:nvSpPr>
          <p:cNvPr id="12" name="Rectangle 2">
            <a:extLst>
              <a:ext uri="{FF2B5EF4-FFF2-40B4-BE49-F238E27FC236}">
                <a16:creationId xmlns:a16="http://schemas.microsoft.com/office/drawing/2014/main" id="{7EF188D9-F102-4734-9F92-9319D2C5D988}"/>
              </a:ext>
            </a:extLst>
          </p:cNvPr>
          <p:cNvSpPr>
            <a:spLocks noChangeArrowheads="1"/>
          </p:cNvSpPr>
          <p:nvPr/>
        </p:nvSpPr>
        <p:spPr bwMode="auto">
          <a:xfrm flipV="1">
            <a:off x="1219200" y="905559"/>
            <a:ext cx="109728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19CCB41-3508-428A-BE60-8CB955882EBE}"/>
              </a:ext>
            </a:extLst>
          </p:cNvPr>
          <p:cNvPicPr>
            <a:picLocks noChangeAspect="1"/>
          </p:cNvPicPr>
          <p:nvPr/>
        </p:nvPicPr>
        <p:blipFill>
          <a:blip r:embed="rId2"/>
          <a:stretch>
            <a:fillRect/>
          </a:stretch>
        </p:blipFill>
        <p:spPr>
          <a:xfrm>
            <a:off x="10839987" y="0"/>
            <a:ext cx="1352013" cy="1016899"/>
          </a:xfrm>
          <a:prstGeom prst="rect">
            <a:avLst/>
          </a:prstGeom>
        </p:spPr>
      </p:pic>
      <p:sp>
        <p:nvSpPr>
          <p:cNvPr id="3" name="Title 2">
            <a:extLst>
              <a:ext uri="{FF2B5EF4-FFF2-40B4-BE49-F238E27FC236}">
                <a16:creationId xmlns:a16="http://schemas.microsoft.com/office/drawing/2014/main" id="{25032C14-8870-4727-BB0C-C8C7705464D8}"/>
              </a:ext>
            </a:extLst>
          </p:cNvPr>
          <p:cNvSpPr>
            <a:spLocks noGrp="1"/>
          </p:cNvSpPr>
          <p:nvPr>
            <p:ph type="title"/>
          </p:nvPr>
        </p:nvSpPr>
        <p:spPr>
          <a:xfrm>
            <a:off x="838200" y="365125"/>
            <a:ext cx="10515600" cy="974361"/>
          </a:xfrm>
        </p:spPr>
        <p:txBody>
          <a:bodyPr>
            <a:normAutofit/>
          </a:bodyPr>
          <a:lstStyle/>
          <a:p>
            <a:pPr algn="ctr"/>
            <a:r>
              <a:rPr lang="en-US" sz="2800" b="1" i="1" dirty="0">
                <a:latin typeface="Times New Roman" panose="02020603050405020304" pitchFamily="18" charset="0"/>
                <a:cs typeface="Times New Roman" panose="02020603050405020304" pitchFamily="18" charset="0"/>
              </a:rPr>
              <a:t>FUTURE SCOPE OF RAG</a:t>
            </a:r>
            <a:endParaRPr lang="en-IN" sz="2800" b="1" i="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F61E710-C424-46EF-8FC1-6D3D9188442E}"/>
              </a:ext>
            </a:extLst>
          </p:cNvPr>
          <p:cNvPicPr>
            <a:picLocks noChangeAspect="1"/>
          </p:cNvPicPr>
          <p:nvPr/>
        </p:nvPicPr>
        <p:blipFill>
          <a:blip r:embed="rId3"/>
          <a:stretch>
            <a:fillRect/>
          </a:stretch>
        </p:blipFill>
        <p:spPr>
          <a:xfrm>
            <a:off x="2381250" y="1571626"/>
            <a:ext cx="6591300" cy="2895600"/>
          </a:xfrm>
          <a:prstGeom prst="rect">
            <a:avLst/>
          </a:prstGeom>
        </p:spPr>
      </p:pic>
      <p:sp>
        <p:nvSpPr>
          <p:cNvPr id="7" name="Rectangle 3">
            <a:extLst>
              <a:ext uri="{FF2B5EF4-FFF2-40B4-BE49-F238E27FC236}">
                <a16:creationId xmlns:a16="http://schemas.microsoft.com/office/drawing/2014/main" id="{193A7E56-4968-4321-8120-582D65500D7B}"/>
              </a:ext>
            </a:extLst>
          </p:cNvPr>
          <p:cNvSpPr>
            <a:spLocks noChangeArrowheads="1"/>
          </p:cNvSpPr>
          <p:nvPr/>
        </p:nvSpPr>
        <p:spPr bwMode="auto">
          <a:xfrm>
            <a:off x="1219200" y="4699366"/>
            <a:ext cx="9220737"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future scope of RAG is very promising. RAG can provide more accurate and useful answers by using updated information from different sources. In the future, it can work with text, images, audio, and videos. It can also be used in areas like customer support, healthcare, education, finance, and business. RAG will help AI systems become smarter, more reliable, and more useful in everyday applications.</a:t>
            </a:r>
          </a:p>
        </p:txBody>
      </p:sp>
    </p:spTree>
    <p:extLst>
      <p:ext uri="{BB962C8B-B14F-4D97-AF65-F5344CB8AC3E}">
        <p14:creationId xmlns:p14="http://schemas.microsoft.com/office/powerpoint/2010/main" val="1599996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3"/>
          <p:cNvSpPr txBox="1"/>
          <p:nvPr/>
        </p:nvSpPr>
        <p:spPr>
          <a:xfrm>
            <a:off x="1708149" y="2840205"/>
            <a:ext cx="9305365" cy="18158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latin typeface="Times New Roman" panose="02020603050405020304" pitchFamily="18" charset="0"/>
                <a:ea typeface="Times New Roman"/>
                <a:cs typeface="Times New Roman" panose="02020603050405020304" pitchFamily="18" charset="0"/>
                <a:sym typeface="Times New Roman"/>
              </a:rPr>
              <a:t>----“</a:t>
            </a:r>
            <a:r>
              <a:rPr lang="en-US" sz="2800" b="1" dirty="0">
                <a:solidFill>
                  <a:srgbClr val="EEF0FF"/>
                </a:solidFill>
                <a:effectLst/>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 The goal is to turn data into information, and information into insight.”</a:t>
            </a:r>
            <a:br>
              <a:rPr lang="en-US" sz="2800" dirty="0"/>
            </a:br>
            <a:r>
              <a:rPr lang="en-US" sz="2800" dirty="0"/>
              <a:t>                                                       </a:t>
            </a:r>
            <a:r>
              <a:rPr lang="en-US" sz="2800" b="1" i="1" dirty="0">
                <a:latin typeface="Times New Roman" panose="02020603050405020304" pitchFamily="18" charset="0"/>
                <a:cs typeface="Times New Roman" panose="02020603050405020304" pitchFamily="18" charset="0"/>
              </a:rPr>
              <a:t>----Carly Fiorina</a:t>
            </a:r>
            <a:r>
              <a:rPr lang="en-US" sz="2800" b="1" i="1" dirty="0">
                <a:solidFill>
                  <a:schemeClr val="dk1"/>
                </a:solidFill>
                <a:latin typeface="Times New Roman" panose="02020603050405020304" pitchFamily="18" charset="0"/>
                <a:ea typeface="Times New Roman"/>
                <a:cs typeface="Times New Roman" panose="02020603050405020304" pitchFamily="18" charset="0"/>
                <a:sym typeface="Times New Roman"/>
              </a:rPr>
              <a:t> </a:t>
            </a:r>
          </a:p>
          <a:p>
            <a:pPr marL="0" marR="0" lvl="0" indent="0" algn="l" rtl="0">
              <a:spcBef>
                <a:spcPts val="0"/>
              </a:spcBef>
              <a:spcAft>
                <a:spcPts val="0"/>
              </a:spcAft>
              <a:buNone/>
            </a:pPr>
            <a:r>
              <a:rPr lang="en-US" sz="2800" i="1" dirty="0">
                <a:solidFill>
                  <a:schemeClr val="dk1"/>
                </a:solidFill>
                <a:latin typeface="Times New Roman"/>
                <a:ea typeface="Times New Roman"/>
                <a:cs typeface="Times New Roman"/>
                <a:sym typeface="Times New Roman"/>
              </a:rPr>
              <a:t>						</a:t>
            </a:r>
            <a:endParaRPr sz="2800" b="1" i="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pic>
        <p:nvPicPr>
          <p:cNvPr id="2" name="Picture 1">
            <a:extLst>
              <a:ext uri="{FF2B5EF4-FFF2-40B4-BE49-F238E27FC236}">
                <a16:creationId xmlns:a16="http://schemas.microsoft.com/office/drawing/2014/main" id="{20613A75-3F13-F6B5-D2E7-DE0AC171D657}"/>
              </a:ext>
            </a:extLst>
          </p:cNvPr>
          <p:cNvPicPr>
            <a:picLocks noChangeAspect="1"/>
          </p:cNvPicPr>
          <p:nvPr/>
        </p:nvPicPr>
        <p:blipFill>
          <a:blip r:embed="rId3"/>
          <a:stretch>
            <a:fillRect/>
          </a:stretch>
        </p:blipFill>
        <p:spPr>
          <a:xfrm>
            <a:off x="10839987" y="0"/>
            <a:ext cx="1352013" cy="10168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219;p15">
            <a:extLst>
              <a:ext uri="{FF2B5EF4-FFF2-40B4-BE49-F238E27FC236}">
                <a16:creationId xmlns:a16="http://schemas.microsoft.com/office/drawing/2014/main" id="{8284076F-AFE8-4578-8C3A-211D1A47D368}"/>
              </a:ext>
            </a:extLst>
          </p:cNvPr>
          <p:cNvSpPr/>
          <p:nvPr/>
        </p:nvSpPr>
        <p:spPr>
          <a:xfrm rot="2700000">
            <a:off x="2700284" y="33284"/>
            <a:ext cx="6791435" cy="6791435"/>
          </a:xfrm>
          <a:custGeom>
            <a:avLst/>
            <a:gdLst/>
            <a:ahLst/>
            <a:cxnLst/>
            <a:rect l="l" t="t" r="r" b="b"/>
            <a:pathLst>
              <a:path w="6791435" h="6791435" extrusionOk="0">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 name="Google Shape;219;p15">
            <a:extLst>
              <a:ext uri="{FF2B5EF4-FFF2-40B4-BE49-F238E27FC236}">
                <a16:creationId xmlns:a16="http://schemas.microsoft.com/office/drawing/2014/main" id="{27B7C2F6-58EC-4349-9F32-78480274C8DA}"/>
              </a:ext>
            </a:extLst>
          </p:cNvPr>
          <p:cNvSpPr/>
          <p:nvPr/>
        </p:nvSpPr>
        <p:spPr>
          <a:xfrm rot="2700000">
            <a:off x="2852684" y="185684"/>
            <a:ext cx="6791435" cy="6791435"/>
          </a:xfrm>
          <a:custGeom>
            <a:avLst/>
            <a:gdLst/>
            <a:ahLst/>
            <a:cxnLst/>
            <a:rect l="l" t="t" r="r" b="b"/>
            <a:pathLst>
              <a:path w="6791435" h="6791435" extrusionOk="0">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5" name="Google Shape;219;p15">
            <a:extLst>
              <a:ext uri="{FF2B5EF4-FFF2-40B4-BE49-F238E27FC236}">
                <a16:creationId xmlns:a16="http://schemas.microsoft.com/office/drawing/2014/main" id="{D26FC99E-7A29-4503-8D23-F180700DA668}"/>
              </a:ext>
            </a:extLst>
          </p:cNvPr>
          <p:cNvSpPr/>
          <p:nvPr/>
        </p:nvSpPr>
        <p:spPr>
          <a:xfrm rot="2700000">
            <a:off x="3005084" y="338084"/>
            <a:ext cx="6791435" cy="6791435"/>
          </a:xfrm>
          <a:custGeom>
            <a:avLst/>
            <a:gdLst/>
            <a:ahLst/>
            <a:cxnLst/>
            <a:rect l="l" t="t" r="r" b="b"/>
            <a:pathLst>
              <a:path w="6791435" h="6791435" extrusionOk="0">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6" name="Picture 5">
            <a:extLst>
              <a:ext uri="{FF2B5EF4-FFF2-40B4-BE49-F238E27FC236}">
                <a16:creationId xmlns:a16="http://schemas.microsoft.com/office/drawing/2014/main" id="{E8DC5974-2E33-4CFE-9A56-E40A9711CFCE}"/>
              </a:ext>
            </a:extLst>
          </p:cNvPr>
          <p:cNvPicPr>
            <a:picLocks noChangeAspect="1"/>
          </p:cNvPicPr>
          <p:nvPr/>
        </p:nvPicPr>
        <p:blipFill>
          <a:blip r:embed="rId2"/>
          <a:stretch>
            <a:fillRect/>
          </a:stretch>
        </p:blipFill>
        <p:spPr>
          <a:xfrm>
            <a:off x="1291935" y="2751"/>
            <a:ext cx="9608129" cy="6852498"/>
          </a:xfrm>
          <a:prstGeom prst="rect">
            <a:avLst/>
          </a:prstGeom>
        </p:spPr>
      </p:pic>
      <p:pic>
        <p:nvPicPr>
          <p:cNvPr id="8" name="Picture 7">
            <a:extLst>
              <a:ext uri="{FF2B5EF4-FFF2-40B4-BE49-F238E27FC236}">
                <a16:creationId xmlns:a16="http://schemas.microsoft.com/office/drawing/2014/main" id="{3F72F1E3-34A6-436F-8911-9A7083813895}"/>
              </a:ext>
            </a:extLst>
          </p:cNvPr>
          <p:cNvPicPr>
            <a:picLocks noChangeAspect="1"/>
          </p:cNvPicPr>
          <p:nvPr/>
        </p:nvPicPr>
        <p:blipFill>
          <a:blip r:embed="rId3"/>
          <a:stretch>
            <a:fillRect/>
          </a:stretch>
        </p:blipFill>
        <p:spPr>
          <a:xfrm>
            <a:off x="0" y="4967"/>
            <a:ext cx="12191999" cy="7091157"/>
          </a:xfrm>
          <a:prstGeom prst="rect">
            <a:avLst/>
          </a:prstGeom>
        </p:spPr>
      </p:pic>
    </p:spTree>
    <p:extLst>
      <p:ext uri="{BB962C8B-B14F-4D97-AF65-F5344CB8AC3E}">
        <p14:creationId xmlns:p14="http://schemas.microsoft.com/office/powerpoint/2010/main" val="19872544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207</TotalTime>
  <Words>314</Words>
  <Application>Microsoft Office PowerPoint</Application>
  <PresentationFormat>Widescreen</PresentationFormat>
  <Paragraphs>44</Paragraphs>
  <Slides>12</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Lucida Sans</vt:lpstr>
      <vt:lpstr>Noto Sans Symbols</vt:lpstr>
      <vt:lpstr>Times New Roman</vt:lpstr>
      <vt:lpstr>Wingdings</vt:lpstr>
      <vt:lpstr>Office Theme</vt:lpstr>
      <vt:lpstr>PowerPoint Presentation</vt:lpstr>
      <vt:lpstr>PowerPoint Presentation</vt:lpstr>
      <vt:lpstr>PowerPoint Presentation</vt:lpstr>
      <vt:lpstr>CUSTOMERS SUPPORT CHATBOTS</vt:lpstr>
      <vt:lpstr>PowerPoint Presentation</vt:lpstr>
      <vt:lpstr>HOW RAG WORKS</vt:lpstr>
      <vt:lpstr>ERROR DECTECTION ASSESSMENT</vt:lpstr>
      <vt:lpstr>Advantages</vt:lpstr>
      <vt:lpstr>Disadvantages</vt:lpstr>
      <vt:lpstr>FUTURE SCOPE OF RAG</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Anudeep Enosh Prasad Dasari</dc:creator>
  <cp:lastModifiedBy>Admin</cp:lastModifiedBy>
  <cp:revision>6</cp:revision>
  <dcterms:created xsi:type="dcterms:W3CDTF">2021-06-22T16:19:16Z</dcterms:created>
  <dcterms:modified xsi:type="dcterms:W3CDTF">2026-08-10T09:55:32Z</dcterms:modified>
</cp:coreProperties>
</file>